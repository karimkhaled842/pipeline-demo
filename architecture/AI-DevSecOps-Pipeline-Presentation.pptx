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316" r:id="rId2"/>
    <p:sldId id="427" r:id="rId3"/>
    <p:sldId id="430" r:id="rId4"/>
    <p:sldId id="428" r:id="rId5"/>
    <p:sldId id="431" r:id="rId6"/>
    <p:sldId id="437" r:id="rId7"/>
    <p:sldId id="438" r:id="rId8"/>
    <p:sldId id="439" r:id="rId9"/>
    <p:sldId id="440" r:id="rId10"/>
    <p:sldId id="434" r:id="rId11"/>
    <p:sldId id="436" r:id="rId12"/>
  </p:sldIdLst>
  <p:sldSz cx="14630400" cy="8229600"/>
  <p:notesSz cx="8229600" cy="14630400"/>
  <p:embeddedFontLst>
    <p:embeddedFont>
      <p:font typeface="Ubuntu" panose="020B050403060203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434"/>
    <p:restoredTop sz="96512"/>
  </p:normalViewPr>
  <p:slideViewPr>
    <p:cSldViewPr snapToGrid="0" snapToObjects="1">
      <p:cViewPr varScale="1">
        <p:scale>
          <a:sx n="90" d="100"/>
          <a:sy n="90" d="100"/>
        </p:scale>
        <p:origin x="216"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806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38DB5-9B40-1CC4-EB34-667DCDFAF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E2550-C844-0999-7BF4-A883E8684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275DE-098B-CF3D-58AC-A236F741A8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4EAA42-F7D8-6FF8-713B-B34FFDD1D633}"/>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152157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9EE10-0573-FD6B-69CC-92DA4552A04E}"/>
            </a:ext>
          </a:extLst>
        </p:cNvPr>
        <p:cNvGrpSpPr/>
        <p:nvPr/>
      </p:nvGrpSpPr>
      <p:grpSpPr>
        <a:xfrm>
          <a:off x="0" y="0"/>
          <a:ext cx="0" cy="0"/>
          <a:chOff x="0" y="0"/>
          <a:chExt cx="0" cy="0"/>
        </a:xfrm>
      </p:grpSpPr>
      <p:sp>
        <p:nvSpPr>
          <p:cNvPr id="4" name="Text 1">
            <a:extLst>
              <a:ext uri="{FF2B5EF4-FFF2-40B4-BE49-F238E27FC236}">
                <a16:creationId xmlns:a16="http://schemas.microsoft.com/office/drawing/2014/main" id="{22BF66C4-B098-AF3C-0E6B-72CF2E57236A}"/>
              </a:ext>
            </a:extLst>
          </p:cNvPr>
          <p:cNvSpPr/>
          <p:nvPr/>
        </p:nvSpPr>
        <p:spPr>
          <a:xfrm>
            <a:off x="1467251" y="5080000"/>
            <a:ext cx="11576010" cy="287130"/>
          </a:xfrm>
          <a:prstGeom prst="rect">
            <a:avLst/>
          </a:prstGeom>
          <a:noFill/>
          <a:ln/>
        </p:spPr>
        <p:txBody>
          <a:bodyPr wrap="square" lIns="0" tIns="0" rIns="0" bIns="0" rtlCol="0" anchor="t">
            <a:spAutoFit/>
          </a:bodyPr>
          <a:lstStyle/>
          <a:p>
            <a:pPr marL="0" indent="0" algn="ctr">
              <a:lnSpc>
                <a:spcPts val="2500"/>
              </a:lnSpc>
              <a:buNone/>
            </a:pPr>
            <a:r>
              <a:rPr lang="en-US" dirty="0">
                <a:solidFill>
                  <a:schemeClr val="bg2">
                    <a:lumMod val="50000"/>
                  </a:schemeClr>
                </a:solidFill>
                <a:latin typeface="Ubuntu" panose="020B0504030602030204" pitchFamily="34" charset="0"/>
                <a:ea typeface="Funnel Sans" pitchFamily="34" charset="-122"/>
                <a:cs typeface="Funnel Sans" pitchFamily="34" charset="-120"/>
              </a:rPr>
              <a:t>AI-Powered DevSecOps Pipeline Solutions</a:t>
            </a:r>
            <a:endParaRPr lang="en-US" dirty="0">
              <a:solidFill>
                <a:schemeClr val="bg2">
                  <a:lumMod val="50000"/>
                </a:schemeClr>
              </a:solidFill>
              <a:latin typeface="Ubuntu" panose="020B0504030602030204" pitchFamily="34" charset="0"/>
            </a:endParaRPr>
          </a:p>
        </p:txBody>
      </p:sp>
      <p:sp>
        <p:nvSpPr>
          <p:cNvPr id="5" name="Text 2">
            <a:extLst>
              <a:ext uri="{FF2B5EF4-FFF2-40B4-BE49-F238E27FC236}">
                <a16:creationId xmlns:a16="http://schemas.microsoft.com/office/drawing/2014/main" id="{4518424E-B162-9957-8D50-9A6A2D9D44A7}"/>
              </a:ext>
            </a:extLst>
          </p:cNvPr>
          <p:cNvSpPr/>
          <p:nvPr/>
        </p:nvSpPr>
        <p:spPr>
          <a:xfrm>
            <a:off x="1467251" y="5689600"/>
            <a:ext cx="12120934" cy="287130"/>
          </a:xfrm>
          <a:prstGeom prst="rect">
            <a:avLst/>
          </a:prstGeom>
          <a:noFill/>
          <a:ln/>
        </p:spPr>
        <p:txBody>
          <a:bodyPr wrap="square" lIns="0" tIns="0" rIns="0" bIns="0" rtlCol="0" anchor="t">
            <a:spAutoFit/>
          </a:bodyPr>
          <a:lstStyle/>
          <a:p>
            <a:pPr algn="ctr">
              <a:lnSpc>
                <a:spcPts val="2500"/>
              </a:lnSpc>
            </a:pPr>
            <a:r>
              <a:rPr lang="en-US" i="1" dirty="0">
                <a:latin typeface="Ubuntu" panose="020B0504030602030204" pitchFamily="34" charset="0"/>
              </a:rPr>
              <a:t>SonarQube AI  +  Red Hat ACS  +  Kaspersky KCS  +  Prisma Cloud</a:t>
            </a:r>
            <a:endParaRPr lang="en-US" dirty="0">
              <a:solidFill>
                <a:schemeClr val="bg2">
                  <a:lumMod val="50000"/>
                </a:schemeClr>
              </a:solidFill>
              <a:latin typeface="Ubuntu" panose="020B0504030602030204" pitchFamily="34" charset="0"/>
            </a:endParaRPr>
          </a:p>
        </p:txBody>
      </p:sp>
      <p:cxnSp>
        <p:nvCxnSpPr>
          <p:cNvPr id="6" name="Straight Connector 5">
            <a:extLst>
              <a:ext uri="{FF2B5EF4-FFF2-40B4-BE49-F238E27FC236}">
                <a16:creationId xmlns:a16="http://schemas.microsoft.com/office/drawing/2014/main" id="{3BC072E7-B599-E70B-31ED-B26BF755B69A}"/>
              </a:ext>
            </a:extLst>
          </p:cNvPr>
          <p:cNvCxnSpPr>
            <a:cxnSpLocks/>
          </p:cNvCxnSpPr>
          <p:nvPr/>
        </p:nvCxnSpPr>
        <p:spPr>
          <a:xfrm>
            <a:off x="1168400" y="7658100"/>
            <a:ext cx="11949828" cy="0"/>
          </a:xfrm>
          <a:prstGeom prst="line">
            <a:avLst/>
          </a:prstGeom>
          <a:ln/>
        </p:spPr>
        <p:style>
          <a:lnRef idx="2">
            <a:schemeClr val="accent1"/>
          </a:lnRef>
          <a:fillRef idx="0">
            <a:schemeClr val="accent1"/>
          </a:fillRef>
          <a:effectRef idx="1">
            <a:schemeClr val="accent1"/>
          </a:effectRef>
          <a:fontRef idx="minor">
            <a:schemeClr val="tx1"/>
          </a:fontRef>
        </p:style>
      </p:cxnSp>
      <p:pic>
        <p:nvPicPr>
          <p:cNvPr id="8" name="Picture 7" descr="OpsEra logo">
            <a:extLst>
              <a:ext uri="{FF2B5EF4-FFF2-40B4-BE49-F238E27FC236}">
                <a16:creationId xmlns:a16="http://schemas.microsoft.com/office/drawing/2014/main" id="{5EA7EBDE-A296-951F-46FA-4A1FCE23A2D4}"/>
              </a:ext>
            </a:extLst>
          </p:cNvPr>
          <p:cNvPicPr>
            <a:picLocks noChangeAspect="1"/>
          </p:cNvPicPr>
          <p:nvPr/>
        </p:nvPicPr>
        <p:blipFill>
          <a:blip r:embed="rId3"/>
          <a:stretch>
            <a:fillRect/>
          </a:stretch>
        </p:blipFill>
        <p:spPr>
          <a:xfrm>
            <a:off x="3599326" y="746185"/>
            <a:ext cx="6838989" cy="3297370"/>
          </a:xfrm>
          <a:prstGeom prst="rect">
            <a:avLst/>
          </a:prstGeom>
        </p:spPr>
      </p:pic>
      <p:pic>
        <p:nvPicPr>
          <p:cNvPr id="2" name="Picture 1">
            <a:extLst>
              <a:ext uri="{FF2B5EF4-FFF2-40B4-BE49-F238E27FC236}">
                <a16:creationId xmlns:a16="http://schemas.microsoft.com/office/drawing/2014/main" id="{270A74DB-8286-7FAA-5C72-9990C84634C3}"/>
              </a:ext>
            </a:extLst>
          </p:cNvPr>
          <p:cNvPicPr>
            <a:picLocks noChangeAspect="1"/>
          </p:cNvPicPr>
          <p:nvPr/>
        </p:nvPicPr>
        <p:blipFill>
          <a:blip r:embed="rId4"/>
          <a:stretch>
            <a:fillRect/>
          </a:stretch>
        </p:blipFill>
        <p:spPr>
          <a:xfrm>
            <a:off x="13373100" y="7289800"/>
            <a:ext cx="1034634" cy="517317"/>
          </a:xfrm>
          <a:prstGeom prst="rect">
            <a:avLst/>
          </a:prstGeom>
        </p:spPr>
      </p:pic>
    </p:spTree>
    <p:extLst>
      <p:ext uri="{BB962C8B-B14F-4D97-AF65-F5344CB8AC3E}">
        <p14:creationId xmlns:p14="http://schemas.microsoft.com/office/powerpoint/2010/main" val="46171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11887200" cy="640080"/>
          </a:xfrm>
          <a:prstGeom prst="rect">
            <a:avLst/>
          </a:prstGeom>
          <a:noFill/>
          <a:ln/>
        </p:spPr>
        <p:txBody>
          <a:bodyPr wrap="square" lIns="0" tIns="0" rIns="0" bIns="0" rtlCol="0" anchor="ctr"/>
          <a:lstStyle/>
          <a:p>
            <a:pPr marL="0" indent="0">
              <a:buNone/>
            </a:pPr>
            <a:r>
              <a:rPr lang="en-US" sz="3900" b="1" dirty="0">
                <a:solidFill>
                  <a:srgbClr val="373B48"/>
                </a:solidFill>
                <a:latin typeface="Ubuntu" pitchFamily="34" charset="0"/>
                <a:ea typeface="Ubuntu" pitchFamily="34" charset="-122"/>
                <a:cs typeface="Ubuntu" pitchFamily="34" charset="-120"/>
              </a:rPr>
              <a:t>Agenda</a:t>
            </a:r>
            <a:endParaRPr lang="en-US" sz="3900" dirty="0"/>
          </a:p>
        </p:txBody>
      </p:sp>
      <p:sp>
        <p:nvSpPr>
          <p:cNvPr id="3" name="Text 1"/>
          <p:cNvSpPr/>
          <p:nvPr/>
        </p:nvSpPr>
        <p:spPr>
          <a:xfrm>
            <a:off x="731520" y="1234440"/>
            <a:ext cx="11887200" cy="457200"/>
          </a:xfrm>
          <a:prstGeom prst="rect">
            <a:avLst/>
          </a:prstGeom>
          <a:noFill/>
          <a:ln/>
        </p:spPr>
        <p:txBody>
          <a:bodyPr wrap="square" lIns="0" tIns="0" rIns="0" bIns="0" rtlCol="0" anchor="ctr"/>
          <a:lstStyle/>
          <a:p>
            <a:pPr marL="0" indent="0">
              <a:buNone/>
            </a:pPr>
            <a:r>
              <a:rPr lang="en-US" sz="1800" dirty="0">
                <a:solidFill>
                  <a:srgbClr val="52586B"/>
                </a:solidFill>
                <a:latin typeface="Ubuntu" pitchFamily="34" charset="0"/>
                <a:ea typeface="Ubuntu" pitchFamily="34" charset="-122"/>
                <a:cs typeface="Ubuntu" pitchFamily="34" charset="-120"/>
              </a:rPr>
              <a:t>Three AI DevSecOps pipeline architectures powered by SonarQube AI</a:t>
            </a:r>
            <a:endParaRPr lang="en-US" sz="1800" dirty="0"/>
          </a:p>
        </p:txBody>
      </p:sp>
      <p:sp>
        <p:nvSpPr>
          <p:cNvPr id="4" name="Shape 2"/>
          <p:cNvSpPr/>
          <p:nvPr/>
        </p:nvSpPr>
        <p:spPr>
          <a:xfrm>
            <a:off x="731520" y="1783080"/>
            <a:ext cx="13167360" cy="0"/>
          </a:xfrm>
          <a:prstGeom prst="line">
            <a:avLst/>
          </a:prstGeom>
          <a:noFill/>
          <a:ln w="12700">
            <a:solidFill>
              <a:srgbClr val="E2E5EE"/>
            </a:solidFill>
            <a:prstDash val="solid"/>
          </a:ln>
        </p:spPr>
        <p:txBody>
          <a:bodyPr/>
          <a:lstStyle/>
          <a:p>
            <a:endParaRPr lang="en-US"/>
          </a:p>
        </p:txBody>
      </p:sp>
      <p:sp>
        <p:nvSpPr>
          <p:cNvPr id="5" name="Shape 3"/>
          <p:cNvSpPr/>
          <p:nvPr/>
        </p:nvSpPr>
        <p:spPr>
          <a:xfrm>
            <a:off x="914400" y="2194560"/>
            <a:ext cx="640080" cy="640080"/>
          </a:xfrm>
          <a:prstGeom prst="line">
            <a:avLst/>
          </a:prstGeom>
          <a:solidFill>
            <a:srgbClr val="F0F4FF"/>
          </a:solidFill>
          <a:ln w="12700">
            <a:solidFill>
              <a:srgbClr val="D0DCEF"/>
            </a:solidFill>
            <a:prstDash val="solid"/>
          </a:ln>
        </p:spPr>
        <p:txBody>
          <a:bodyPr/>
          <a:lstStyle/>
          <a:p>
            <a:endParaRPr lang="en-US"/>
          </a:p>
        </p:txBody>
      </p:sp>
      <p:sp>
        <p:nvSpPr>
          <p:cNvPr id="6" name="Text 4"/>
          <p:cNvSpPr/>
          <p:nvPr/>
        </p:nvSpPr>
        <p:spPr>
          <a:xfrm>
            <a:off x="914400" y="2194560"/>
            <a:ext cx="640080" cy="640080"/>
          </a:xfrm>
          <a:prstGeom prst="rect">
            <a:avLst/>
          </a:prstGeom>
          <a:noFill/>
          <a:ln/>
        </p:spPr>
        <p:txBody>
          <a:bodyPr wrap="square" lIns="0" tIns="0" rIns="0" bIns="0" rtlCol="0" anchor="ctr"/>
          <a:lstStyle/>
          <a:p>
            <a:pPr marL="0" indent="0" algn="ctr">
              <a:buNone/>
            </a:pPr>
            <a:r>
              <a:rPr lang="en-US" sz="1800" b="1" dirty="0">
                <a:solidFill>
                  <a:srgbClr val="3B82F6"/>
                </a:solidFill>
                <a:latin typeface="Ubuntu" pitchFamily="34" charset="0"/>
                <a:ea typeface="Ubuntu" pitchFamily="34" charset="-122"/>
                <a:cs typeface="Ubuntu" pitchFamily="34" charset="-120"/>
              </a:rPr>
              <a:t>01</a:t>
            </a:r>
            <a:endParaRPr lang="en-US" sz="1800" dirty="0"/>
          </a:p>
        </p:txBody>
      </p:sp>
      <p:sp>
        <p:nvSpPr>
          <p:cNvPr id="7" name="Text 5"/>
          <p:cNvSpPr/>
          <p:nvPr/>
        </p:nvSpPr>
        <p:spPr>
          <a:xfrm>
            <a:off x="1920240" y="2176272"/>
            <a:ext cx="100584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Technology Stack</a:t>
            </a:r>
            <a:endParaRPr lang="en-US" sz="2000" dirty="0"/>
          </a:p>
        </p:txBody>
      </p:sp>
      <p:sp>
        <p:nvSpPr>
          <p:cNvPr id="8" name="Text 6"/>
          <p:cNvSpPr/>
          <p:nvPr/>
        </p:nvSpPr>
        <p:spPr>
          <a:xfrm>
            <a:off x="1920240" y="2542032"/>
            <a:ext cx="10058400" cy="32004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Red Hat ACS, Kaspersky KCS, Palo Alto Prisma Cloud, SonarQube AI</a:t>
            </a:r>
            <a:endParaRPr lang="en-US" sz="1400" dirty="0"/>
          </a:p>
        </p:txBody>
      </p:sp>
      <p:sp>
        <p:nvSpPr>
          <p:cNvPr id="9" name="Shape 7"/>
          <p:cNvSpPr/>
          <p:nvPr/>
        </p:nvSpPr>
        <p:spPr>
          <a:xfrm>
            <a:off x="1920240" y="3063240"/>
            <a:ext cx="11155680" cy="0"/>
          </a:xfrm>
          <a:prstGeom prst="line">
            <a:avLst/>
          </a:prstGeom>
          <a:noFill/>
          <a:ln w="6350">
            <a:solidFill>
              <a:srgbClr val="E2E5EE"/>
            </a:solidFill>
            <a:prstDash val="solid"/>
          </a:ln>
        </p:spPr>
        <p:txBody>
          <a:bodyPr/>
          <a:lstStyle/>
          <a:p>
            <a:endParaRPr lang="en-US"/>
          </a:p>
        </p:txBody>
      </p:sp>
      <p:sp>
        <p:nvSpPr>
          <p:cNvPr id="10" name="Shape 8"/>
          <p:cNvSpPr/>
          <p:nvPr/>
        </p:nvSpPr>
        <p:spPr>
          <a:xfrm>
            <a:off x="914400" y="3200400"/>
            <a:ext cx="640080" cy="640080"/>
          </a:xfrm>
          <a:prstGeom prst="line">
            <a:avLst/>
          </a:prstGeom>
          <a:solidFill>
            <a:srgbClr val="F0F4FF"/>
          </a:solidFill>
          <a:ln w="12700">
            <a:solidFill>
              <a:srgbClr val="D0DCEF"/>
            </a:solidFill>
            <a:prstDash val="solid"/>
          </a:ln>
        </p:spPr>
        <p:txBody>
          <a:bodyPr/>
          <a:lstStyle/>
          <a:p>
            <a:endParaRPr lang="en-US"/>
          </a:p>
        </p:txBody>
      </p:sp>
      <p:sp>
        <p:nvSpPr>
          <p:cNvPr id="11" name="Text 9"/>
          <p:cNvSpPr/>
          <p:nvPr/>
        </p:nvSpPr>
        <p:spPr>
          <a:xfrm>
            <a:off x="914400" y="3200400"/>
            <a:ext cx="640080" cy="640080"/>
          </a:xfrm>
          <a:prstGeom prst="rect">
            <a:avLst/>
          </a:prstGeom>
          <a:noFill/>
          <a:ln/>
        </p:spPr>
        <p:txBody>
          <a:bodyPr wrap="square" lIns="0" tIns="0" rIns="0" bIns="0" rtlCol="0" anchor="ctr"/>
          <a:lstStyle/>
          <a:p>
            <a:pPr marL="0" indent="0" algn="ctr">
              <a:buNone/>
            </a:pPr>
            <a:r>
              <a:rPr lang="en-US" sz="1800" b="1" dirty="0">
                <a:solidFill>
                  <a:srgbClr val="3B82F6"/>
                </a:solidFill>
                <a:latin typeface="Ubuntu" pitchFamily="34" charset="0"/>
                <a:ea typeface="Ubuntu" pitchFamily="34" charset="-122"/>
                <a:cs typeface="Ubuntu" pitchFamily="34" charset="-120"/>
              </a:rPr>
              <a:t>02</a:t>
            </a:r>
            <a:endParaRPr lang="en-US" sz="1800" dirty="0"/>
          </a:p>
        </p:txBody>
      </p:sp>
      <p:sp>
        <p:nvSpPr>
          <p:cNvPr id="12" name="Text 10"/>
          <p:cNvSpPr/>
          <p:nvPr/>
        </p:nvSpPr>
        <p:spPr>
          <a:xfrm>
            <a:off x="1920240" y="3182112"/>
            <a:ext cx="100584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Use Case 1: Red Hat ACS + SonarQube AI</a:t>
            </a:r>
            <a:endParaRPr lang="en-US" sz="2000" dirty="0"/>
          </a:p>
        </p:txBody>
      </p:sp>
      <p:sp>
        <p:nvSpPr>
          <p:cNvPr id="13" name="Text 11"/>
          <p:cNvSpPr/>
          <p:nvPr/>
        </p:nvSpPr>
        <p:spPr>
          <a:xfrm>
            <a:off x="1920240" y="3547872"/>
            <a:ext cx="10058400" cy="32004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K8s-native container security with AI-powered SAST and code quality gates</a:t>
            </a:r>
            <a:endParaRPr lang="en-US" sz="1400" dirty="0"/>
          </a:p>
        </p:txBody>
      </p:sp>
      <p:sp>
        <p:nvSpPr>
          <p:cNvPr id="14" name="Shape 12"/>
          <p:cNvSpPr/>
          <p:nvPr/>
        </p:nvSpPr>
        <p:spPr>
          <a:xfrm>
            <a:off x="1920240" y="4069080"/>
            <a:ext cx="11155680" cy="0"/>
          </a:xfrm>
          <a:prstGeom prst="line">
            <a:avLst/>
          </a:prstGeom>
          <a:noFill/>
          <a:ln w="6350">
            <a:solidFill>
              <a:srgbClr val="E2E5EE"/>
            </a:solidFill>
            <a:prstDash val="solid"/>
          </a:ln>
        </p:spPr>
        <p:txBody>
          <a:bodyPr/>
          <a:lstStyle/>
          <a:p>
            <a:endParaRPr lang="en-US"/>
          </a:p>
        </p:txBody>
      </p:sp>
      <p:sp>
        <p:nvSpPr>
          <p:cNvPr id="15" name="Shape 13"/>
          <p:cNvSpPr/>
          <p:nvPr/>
        </p:nvSpPr>
        <p:spPr>
          <a:xfrm>
            <a:off x="914400" y="4206240"/>
            <a:ext cx="640080" cy="640080"/>
          </a:xfrm>
          <a:prstGeom prst="line">
            <a:avLst/>
          </a:prstGeom>
          <a:solidFill>
            <a:srgbClr val="F0F4FF"/>
          </a:solidFill>
          <a:ln w="12700">
            <a:solidFill>
              <a:srgbClr val="D0DCEF"/>
            </a:solidFill>
            <a:prstDash val="solid"/>
          </a:ln>
        </p:spPr>
        <p:txBody>
          <a:bodyPr/>
          <a:lstStyle/>
          <a:p>
            <a:endParaRPr lang="en-US"/>
          </a:p>
        </p:txBody>
      </p:sp>
      <p:sp>
        <p:nvSpPr>
          <p:cNvPr id="16" name="Text 14"/>
          <p:cNvSpPr/>
          <p:nvPr/>
        </p:nvSpPr>
        <p:spPr>
          <a:xfrm>
            <a:off x="914400" y="4206240"/>
            <a:ext cx="640080" cy="640080"/>
          </a:xfrm>
          <a:prstGeom prst="rect">
            <a:avLst/>
          </a:prstGeom>
          <a:noFill/>
          <a:ln/>
        </p:spPr>
        <p:txBody>
          <a:bodyPr wrap="square" lIns="0" tIns="0" rIns="0" bIns="0" rtlCol="0" anchor="ctr"/>
          <a:lstStyle/>
          <a:p>
            <a:pPr marL="0" indent="0" algn="ctr">
              <a:buNone/>
            </a:pPr>
            <a:r>
              <a:rPr lang="en-US" sz="1800" b="1" dirty="0">
                <a:solidFill>
                  <a:srgbClr val="3B82F6"/>
                </a:solidFill>
                <a:latin typeface="Ubuntu" pitchFamily="34" charset="0"/>
                <a:ea typeface="Ubuntu" pitchFamily="34" charset="-122"/>
                <a:cs typeface="Ubuntu" pitchFamily="34" charset="-120"/>
              </a:rPr>
              <a:t>03</a:t>
            </a:r>
            <a:endParaRPr lang="en-US" sz="1800" dirty="0"/>
          </a:p>
        </p:txBody>
      </p:sp>
      <p:sp>
        <p:nvSpPr>
          <p:cNvPr id="17" name="Text 15"/>
          <p:cNvSpPr/>
          <p:nvPr/>
        </p:nvSpPr>
        <p:spPr>
          <a:xfrm>
            <a:off x="1920240" y="4187952"/>
            <a:ext cx="100584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Use Case 2: Kaspersky KCS + SonarQube AI</a:t>
            </a:r>
            <a:endParaRPr lang="en-US" sz="2000" dirty="0"/>
          </a:p>
        </p:txBody>
      </p:sp>
      <p:sp>
        <p:nvSpPr>
          <p:cNvPr id="18" name="Text 16"/>
          <p:cNvSpPr/>
          <p:nvPr/>
        </p:nvSpPr>
        <p:spPr>
          <a:xfrm>
            <a:off x="1920240" y="4553712"/>
            <a:ext cx="10058400" cy="32004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ML-powered container defense with Astraea engine and AI code analysis</a:t>
            </a:r>
            <a:endParaRPr lang="en-US" sz="1400" dirty="0"/>
          </a:p>
        </p:txBody>
      </p:sp>
      <p:sp>
        <p:nvSpPr>
          <p:cNvPr id="19" name="Shape 17"/>
          <p:cNvSpPr/>
          <p:nvPr/>
        </p:nvSpPr>
        <p:spPr>
          <a:xfrm>
            <a:off x="1920240" y="5074920"/>
            <a:ext cx="11155680" cy="0"/>
          </a:xfrm>
          <a:prstGeom prst="line">
            <a:avLst/>
          </a:prstGeom>
          <a:noFill/>
          <a:ln w="6350">
            <a:solidFill>
              <a:srgbClr val="E2E5EE"/>
            </a:solidFill>
            <a:prstDash val="solid"/>
          </a:ln>
        </p:spPr>
        <p:txBody>
          <a:bodyPr/>
          <a:lstStyle/>
          <a:p>
            <a:endParaRPr lang="en-US"/>
          </a:p>
        </p:txBody>
      </p:sp>
      <p:sp>
        <p:nvSpPr>
          <p:cNvPr id="20" name="Shape 18"/>
          <p:cNvSpPr/>
          <p:nvPr/>
        </p:nvSpPr>
        <p:spPr>
          <a:xfrm>
            <a:off x="914400" y="5212080"/>
            <a:ext cx="640080" cy="640080"/>
          </a:xfrm>
          <a:prstGeom prst="line">
            <a:avLst/>
          </a:prstGeom>
          <a:solidFill>
            <a:srgbClr val="F0F4FF"/>
          </a:solidFill>
          <a:ln w="12700">
            <a:solidFill>
              <a:srgbClr val="D0DCEF"/>
            </a:solidFill>
            <a:prstDash val="solid"/>
          </a:ln>
        </p:spPr>
        <p:txBody>
          <a:bodyPr/>
          <a:lstStyle/>
          <a:p>
            <a:endParaRPr lang="en-US"/>
          </a:p>
        </p:txBody>
      </p:sp>
      <p:sp>
        <p:nvSpPr>
          <p:cNvPr id="21" name="Text 19"/>
          <p:cNvSpPr/>
          <p:nvPr/>
        </p:nvSpPr>
        <p:spPr>
          <a:xfrm>
            <a:off x="914400" y="5212080"/>
            <a:ext cx="640080" cy="640080"/>
          </a:xfrm>
          <a:prstGeom prst="rect">
            <a:avLst/>
          </a:prstGeom>
          <a:noFill/>
          <a:ln/>
        </p:spPr>
        <p:txBody>
          <a:bodyPr wrap="square" lIns="0" tIns="0" rIns="0" bIns="0" rtlCol="0" anchor="ctr"/>
          <a:lstStyle/>
          <a:p>
            <a:pPr marL="0" indent="0" algn="ctr">
              <a:buNone/>
            </a:pPr>
            <a:r>
              <a:rPr lang="en-US" sz="1800" b="1" dirty="0">
                <a:solidFill>
                  <a:srgbClr val="3B82F6"/>
                </a:solidFill>
                <a:latin typeface="Ubuntu" pitchFamily="34" charset="0"/>
                <a:ea typeface="Ubuntu" pitchFamily="34" charset="-122"/>
                <a:cs typeface="Ubuntu" pitchFamily="34" charset="-120"/>
              </a:rPr>
              <a:t>04</a:t>
            </a:r>
            <a:endParaRPr lang="en-US" sz="1800" dirty="0"/>
          </a:p>
        </p:txBody>
      </p:sp>
      <p:sp>
        <p:nvSpPr>
          <p:cNvPr id="22" name="Text 20"/>
          <p:cNvSpPr/>
          <p:nvPr/>
        </p:nvSpPr>
        <p:spPr>
          <a:xfrm>
            <a:off x="1920240" y="5193792"/>
            <a:ext cx="100584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Use Case 3: Prisma Cloud + SonarQube AI</a:t>
            </a:r>
            <a:endParaRPr lang="en-US" sz="2000" dirty="0"/>
          </a:p>
        </p:txBody>
      </p:sp>
      <p:sp>
        <p:nvSpPr>
          <p:cNvPr id="23" name="Text 21"/>
          <p:cNvSpPr/>
          <p:nvPr/>
        </p:nvSpPr>
        <p:spPr>
          <a:xfrm>
            <a:off x="1920240" y="5559552"/>
            <a:ext cx="10058400" cy="32004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Full CNAPP platform with code-to-cloud security and attack-path AI</a:t>
            </a:r>
            <a:endParaRPr lang="en-US" sz="1400" dirty="0"/>
          </a:p>
        </p:txBody>
      </p:sp>
      <p:sp>
        <p:nvSpPr>
          <p:cNvPr id="24" name="Shape 22"/>
          <p:cNvSpPr/>
          <p:nvPr/>
        </p:nvSpPr>
        <p:spPr>
          <a:xfrm>
            <a:off x="1920240" y="6080760"/>
            <a:ext cx="11155680" cy="0"/>
          </a:xfrm>
          <a:prstGeom prst="line">
            <a:avLst/>
          </a:prstGeom>
          <a:noFill/>
          <a:ln w="6350">
            <a:solidFill>
              <a:srgbClr val="E2E5EE"/>
            </a:solidFill>
            <a:prstDash val="solid"/>
          </a:ln>
        </p:spPr>
        <p:txBody>
          <a:bodyPr/>
          <a:lstStyle/>
          <a:p>
            <a:endParaRPr lang="en-US"/>
          </a:p>
        </p:txBody>
      </p:sp>
      <p:sp>
        <p:nvSpPr>
          <p:cNvPr id="25" name="Shape 23"/>
          <p:cNvSpPr/>
          <p:nvPr/>
        </p:nvSpPr>
        <p:spPr>
          <a:xfrm>
            <a:off x="914400" y="6217920"/>
            <a:ext cx="640080" cy="640080"/>
          </a:xfrm>
          <a:prstGeom prst="line">
            <a:avLst/>
          </a:prstGeom>
          <a:solidFill>
            <a:srgbClr val="F0F4FF"/>
          </a:solidFill>
          <a:ln w="12700">
            <a:solidFill>
              <a:srgbClr val="D0DCEF"/>
            </a:solidFill>
            <a:prstDash val="solid"/>
          </a:ln>
        </p:spPr>
        <p:txBody>
          <a:bodyPr/>
          <a:lstStyle/>
          <a:p>
            <a:endParaRPr lang="en-US"/>
          </a:p>
        </p:txBody>
      </p:sp>
      <p:sp>
        <p:nvSpPr>
          <p:cNvPr id="26" name="Text 24"/>
          <p:cNvSpPr/>
          <p:nvPr/>
        </p:nvSpPr>
        <p:spPr>
          <a:xfrm>
            <a:off x="914400" y="6217920"/>
            <a:ext cx="640080" cy="640080"/>
          </a:xfrm>
          <a:prstGeom prst="rect">
            <a:avLst/>
          </a:prstGeom>
          <a:noFill/>
          <a:ln/>
        </p:spPr>
        <p:txBody>
          <a:bodyPr wrap="square" lIns="0" tIns="0" rIns="0" bIns="0" rtlCol="0" anchor="ctr"/>
          <a:lstStyle/>
          <a:p>
            <a:pPr marL="0" indent="0" algn="ctr">
              <a:buNone/>
            </a:pPr>
            <a:r>
              <a:rPr lang="en-US" sz="1800" b="1" dirty="0">
                <a:solidFill>
                  <a:srgbClr val="3B82F6"/>
                </a:solidFill>
                <a:latin typeface="Ubuntu" pitchFamily="34" charset="0"/>
                <a:ea typeface="Ubuntu" pitchFamily="34" charset="-122"/>
                <a:cs typeface="Ubuntu" pitchFamily="34" charset="-120"/>
              </a:rPr>
              <a:t>05</a:t>
            </a:r>
            <a:endParaRPr lang="en-US" sz="1800" dirty="0"/>
          </a:p>
        </p:txBody>
      </p:sp>
      <p:sp>
        <p:nvSpPr>
          <p:cNvPr id="27" name="Text 25"/>
          <p:cNvSpPr/>
          <p:nvPr/>
        </p:nvSpPr>
        <p:spPr>
          <a:xfrm>
            <a:off x="1920240" y="6199632"/>
            <a:ext cx="100584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Feature Comparison</a:t>
            </a:r>
            <a:endParaRPr lang="en-US" sz="2000" dirty="0"/>
          </a:p>
        </p:txBody>
      </p:sp>
      <p:sp>
        <p:nvSpPr>
          <p:cNvPr id="28" name="Text 26"/>
          <p:cNvSpPr/>
          <p:nvPr/>
        </p:nvSpPr>
        <p:spPr>
          <a:xfrm>
            <a:off x="1920240" y="6565392"/>
            <a:ext cx="10058400" cy="32004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Side-by-side comparison of all three pipeline architectures</a:t>
            </a:r>
            <a:endParaRPr lang="en-US" sz="1400" dirty="0"/>
          </a:p>
        </p:txBody>
      </p:sp>
      <p:sp>
        <p:nvSpPr>
          <p:cNvPr id="29" name="Shape 27"/>
          <p:cNvSpPr/>
          <p:nvPr/>
        </p:nvSpPr>
        <p:spPr>
          <a:xfrm>
            <a:off x="731520" y="7516368"/>
            <a:ext cx="13167360" cy="0"/>
          </a:xfrm>
          <a:prstGeom prst="line">
            <a:avLst/>
          </a:prstGeom>
          <a:noFill/>
          <a:ln w="19050">
            <a:solidFill>
              <a:srgbClr val="3B82F6"/>
            </a:solidFill>
            <a:prstDash val="solid"/>
          </a:ln>
        </p:spPr>
        <p:txBody>
          <a:bodyPr/>
          <a:lstStyle/>
          <a:p>
            <a:endParaRPr lang="en-US"/>
          </a:p>
        </p:txBody>
      </p:sp>
      <p:pic>
        <p:nvPicPr>
          <p:cNvPr id="30" name="Image 0" descr="/sessions/relaxed-confident-mccarthy/unpacked/ppt/media/image3.png"/>
          <p:cNvPicPr>
            <a:picLocks noChangeAspect="1"/>
          </p:cNvPicPr>
          <p:nvPr/>
        </p:nvPicPr>
        <p:blipFill>
          <a:blip r:embed="rId2"/>
          <a:stretch>
            <a:fillRect/>
          </a:stretch>
        </p:blipFill>
        <p:spPr>
          <a:xfrm>
            <a:off x="12893040" y="7178040"/>
            <a:ext cx="1005840" cy="502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11887200" cy="640080"/>
          </a:xfrm>
          <a:prstGeom prst="rect">
            <a:avLst/>
          </a:prstGeom>
          <a:noFill/>
          <a:ln/>
        </p:spPr>
        <p:txBody>
          <a:bodyPr wrap="square" lIns="0" tIns="0" rIns="0" bIns="0" rtlCol="0" anchor="ctr"/>
          <a:lstStyle/>
          <a:p>
            <a:pPr marL="0" indent="0">
              <a:buNone/>
            </a:pPr>
            <a:r>
              <a:rPr lang="en-US" sz="3900" b="1" dirty="0">
                <a:solidFill>
                  <a:srgbClr val="373B48"/>
                </a:solidFill>
                <a:latin typeface="Ubuntu" pitchFamily="34" charset="0"/>
                <a:ea typeface="Ubuntu" pitchFamily="34" charset="-122"/>
                <a:cs typeface="Ubuntu" pitchFamily="34" charset="-120"/>
              </a:rPr>
              <a:t>Technology Stack</a:t>
            </a:r>
            <a:endParaRPr lang="en-US" sz="3900" dirty="0"/>
          </a:p>
        </p:txBody>
      </p:sp>
      <p:sp>
        <p:nvSpPr>
          <p:cNvPr id="3" name="Text 1"/>
          <p:cNvSpPr/>
          <p:nvPr/>
        </p:nvSpPr>
        <p:spPr>
          <a:xfrm>
            <a:off x="731520" y="1234440"/>
            <a:ext cx="11887200" cy="457200"/>
          </a:xfrm>
          <a:prstGeom prst="rect">
            <a:avLst/>
          </a:prstGeom>
          <a:noFill/>
          <a:ln/>
        </p:spPr>
        <p:txBody>
          <a:bodyPr wrap="square" lIns="0" tIns="0" rIns="0" bIns="0" rtlCol="0" anchor="ctr"/>
          <a:lstStyle/>
          <a:p>
            <a:pPr marL="0" indent="0">
              <a:buNone/>
            </a:pPr>
            <a:r>
              <a:rPr lang="en-US" sz="1800" dirty="0">
                <a:solidFill>
                  <a:srgbClr val="52586B"/>
                </a:solidFill>
                <a:latin typeface="Ubuntu" pitchFamily="34" charset="0"/>
                <a:ea typeface="Ubuntu" pitchFamily="34" charset="-122"/>
                <a:cs typeface="Ubuntu" pitchFamily="34" charset="-120"/>
              </a:rPr>
              <a:t>Four integrated platforms powering AI-driven DevSecOps pipelines</a:t>
            </a:r>
            <a:endParaRPr lang="en-US" sz="1800" dirty="0"/>
          </a:p>
        </p:txBody>
      </p:sp>
      <p:sp>
        <p:nvSpPr>
          <p:cNvPr id="4" name="Shape 2"/>
          <p:cNvSpPr/>
          <p:nvPr/>
        </p:nvSpPr>
        <p:spPr>
          <a:xfrm>
            <a:off x="731520" y="1920240"/>
            <a:ext cx="3063240" cy="3840480"/>
          </a:xfrm>
          <a:prstGeom prst="rect">
            <a:avLst/>
          </a:prstGeom>
          <a:solidFill>
            <a:srgbClr val="F8F9FC"/>
          </a:solidFill>
          <a:ln w="12700">
            <a:solidFill>
              <a:srgbClr val="E2E5EE"/>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731520" y="1920240"/>
            <a:ext cx="3063240" cy="54864"/>
          </a:xfrm>
          <a:prstGeom prst="rect">
            <a:avLst/>
          </a:prstGeom>
          <a:solidFill>
            <a:srgbClr val="3B82F6"/>
          </a:solidFill>
          <a:ln/>
        </p:spPr>
        <p:txBody>
          <a:bodyPr/>
          <a:lstStyle/>
          <a:p>
            <a:endParaRPr lang="en-US"/>
          </a:p>
        </p:txBody>
      </p:sp>
      <p:sp>
        <p:nvSpPr>
          <p:cNvPr id="6" name="Shape 4"/>
          <p:cNvSpPr/>
          <p:nvPr/>
        </p:nvSpPr>
        <p:spPr>
          <a:xfrm>
            <a:off x="1005840" y="2240280"/>
            <a:ext cx="594360" cy="594360"/>
          </a:xfrm>
          <a:prstGeom prst="line">
            <a:avLst/>
          </a:prstGeom>
          <a:solidFill>
            <a:srgbClr val="F0F4FF"/>
          </a:solidFill>
          <a:ln w="12700">
            <a:solidFill>
              <a:srgbClr val="D0DCEF"/>
            </a:solidFill>
            <a:prstDash val="solid"/>
          </a:ln>
        </p:spPr>
        <p:txBody>
          <a:bodyPr/>
          <a:lstStyle/>
          <a:p>
            <a:endParaRPr lang="en-US"/>
          </a:p>
        </p:txBody>
      </p:sp>
      <p:pic>
        <p:nvPicPr>
          <p:cNvPr id="7" name="Image 0" descr="preencoded.png"/>
          <p:cNvPicPr>
            <a:picLocks noChangeAspect="1"/>
          </p:cNvPicPr>
          <p:nvPr/>
        </p:nvPicPr>
        <p:blipFill>
          <a:blip r:embed="rId2"/>
          <a:stretch>
            <a:fillRect/>
          </a:stretch>
        </p:blipFill>
        <p:spPr>
          <a:xfrm>
            <a:off x="1124712" y="2359152"/>
            <a:ext cx="356616" cy="356616"/>
          </a:xfrm>
          <a:prstGeom prst="rect">
            <a:avLst/>
          </a:prstGeom>
        </p:spPr>
      </p:pic>
      <p:sp>
        <p:nvSpPr>
          <p:cNvPr id="8" name="Text 5"/>
          <p:cNvSpPr/>
          <p:nvPr/>
        </p:nvSpPr>
        <p:spPr>
          <a:xfrm>
            <a:off x="1005840" y="3017520"/>
            <a:ext cx="25146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Red Hat ACS</a:t>
            </a:r>
            <a:endParaRPr lang="en-US" sz="2000" dirty="0"/>
          </a:p>
        </p:txBody>
      </p:sp>
      <p:sp>
        <p:nvSpPr>
          <p:cNvPr id="9" name="Text 6"/>
          <p:cNvSpPr/>
          <p:nvPr/>
        </p:nvSpPr>
        <p:spPr>
          <a:xfrm>
            <a:off x="1005840" y="3429000"/>
            <a:ext cx="2514600" cy="320040"/>
          </a:xfrm>
          <a:prstGeom prst="rect">
            <a:avLst/>
          </a:prstGeom>
          <a:noFill/>
          <a:ln/>
        </p:spPr>
        <p:txBody>
          <a:bodyPr wrap="square" lIns="0" tIns="0" rIns="0" bIns="0" rtlCol="0" anchor="ctr"/>
          <a:lstStyle/>
          <a:p>
            <a:pPr marL="0" indent="0">
              <a:buNone/>
            </a:pPr>
            <a:r>
              <a:rPr lang="en-US" sz="1300" i="1" dirty="0">
                <a:solidFill>
                  <a:srgbClr val="3B82F6"/>
                </a:solidFill>
                <a:latin typeface="Ubuntu" pitchFamily="34" charset="0"/>
                <a:ea typeface="Ubuntu" pitchFamily="34" charset="-122"/>
                <a:cs typeface="Ubuntu" pitchFamily="34" charset="-120"/>
              </a:rPr>
              <a:t>K8s-native container security</a:t>
            </a:r>
            <a:endParaRPr lang="en-US" sz="1300" dirty="0"/>
          </a:p>
        </p:txBody>
      </p:sp>
      <p:sp>
        <p:nvSpPr>
          <p:cNvPr id="10" name="Shape 7"/>
          <p:cNvSpPr/>
          <p:nvPr/>
        </p:nvSpPr>
        <p:spPr>
          <a:xfrm>
            <a:off x="1005840" y="3886200"/>
            <a:ext cx="2514600" cy="0"/>
          </a:xfrm>
          <a:prstGeom prst="line">
            <a:avLst/>
          </a:prstGeom>
          <a:noFill/>
          <a:ln w="6350">
            <a:solidFill>
              <a:srgbClr val="E2E5EE"/>
            </a:solidFill>
            <a:prstDash val="solid"/>
          </a:ln>
        </p:spPr>
        <p:txBody>
          <a:bodyPr/>
          <a:lstStyle/>
          <a:p>
            <a:endParaRPr lang="en-US"/>
          </a:p>
        </p:txBody>
      </p:sp>
      <p:sp>
        <p:nvSpPr>
          <p:cNvPr id="11" name="Text 8"/>
          <p:cNvSpPr/>
          <p:nvPr/>
        </p:nvSpPr>
        <p:spPr>
          <a:xfrm>
            <a:off x="1005840" y="4069080"/>
            <a:ext cx="2514600" cy="1188720"/>
          </a:xfrm>
          <a:prstGeom prst="rect">
            <a:avLst/>
          </a:prstGeom>
          <a:noFill/>
          <a:ln/>
        </p:spPr>
        <p:txBody>
          <a:bodyPr wrap="square" lIns="0" tIns="0" rIns="0" bIns="0" rtlCol="0" anchor="ctr"/>
          <a:lstStyle/>
          <a:p>
            <a:pPr marL="0" indent="0">
              <a:buNone/>
            </a:pPr>
            <a:r>
              <a:rPr lang="en-US" sz="1300" dirty="0">
                <a:solidFill>
                  <a:srgbClr val="52586B"/>
                </a:solidFill>
                <a:latin typeface="Ubuntu" pitchFamily="34" charset="0"/>
                <a:ea typeface="Ubuntu" pitchFamily="34" charset="-122"/>
                <a:cs typeface="Ubuntu" pitchFamily="34" charset="-120"/>
              </a:rPr>
              <a:t>StackRox-based container security with eBPF runtime monitoring, image scanning, admission control, and network segmentation for Kubernetes.</a:t>
            </a:r>
            <a:endParaRPr lang="en-US" sz="1300" dirty="0"/>
          </a:p>
        </p:txBody>
      </p:sp>
      <p:sp>
        <p:nvSpPr>
          <p:cNvPr id="12" name="Shape 9"/>
          <p:cNvSpPr/>
          <p:nvPr/>
        </p:nvSpPr>
        <p:spPr>
          <a:xfrm>
            <a:off x="4114800" y="1920240"/>
            <a:ext cx="3063240" cy="3840480"/>
          </a:xfrm>
          <a:prstGeom prst="rect">
            <a:avLst/>
          </a:prstGeom>
          <a:solidFill>
            <a:srgbClr val="F8F9FC"/>
          </a:solidFill>
          <a:ln w="12700">
            <a:solidFill>
              <a:srgbClr val="E2E5EE"/>
            </a:solidFill>
            <a:prstDash val="solid"/>
          </a:ln>
          <a:effectLst>
            <a:outerShdw blurRad="76200" dist="25400" dir="8100000" algn="bl" rotWithShape="0">
              <a:srgbClr val="000000">
                <a:alpha val="8000"/>
              </a:srgbClr>
            </a:outerShdw>
          </a:effectLst>
        </p:spPr>
        <p:txBody>
          <a:bodyPr/>
          <a:lstStyle/>
          <a:p>
            <a:endParaRPr lang="en-US"/>
          </a:p>
        </p:txBody>
      </p:sp>
      <p:sp>
        <p:nvSpPr>
          <p:cNvPr id="13" name="Shape 10"/>
          <p:cNvSpPr/>
          <p:nvPr/>
        </p:nvSpPr>
        <p:spPr>
          <a:xfrm>
            <a:off x="4114800" y="1920240"/>
            <a:ext cx="3063240" cy="54864"/>
          </a:xfrm>
          <a:prstGeom prst="rect">
            <a:avLst/>
          </a:prstGeom>
          <a:solidFill>
            <a:srgbClr val="0D9488"/>
          </a:solidFill>
          <a:ln/>
        </p:spPr>
        <p:txBody>
          <a:bodyPr/>
          <a:lstStyle/>
          <a:p>
            <a:endParaRPr lang="en-US"/>
          </a:p>
        </p:txBody>
      </p:sp>
      <p:sp>
        <p:nvSpPr>
          <p:cNvPr id="14" name="Shape 11"/>
          <p:cNvSpPr/>
          <p:nvPr/>
        </p:nvSpPr>
        <p:spPr>
          <a:xfrm>
            <a:off x="4389120" y="2240280"/>
            <a:ext cx="594360" cy="594360"/>
          </a:xfrm>
          <a:prstGeom prst="line">
            <a:avLst/>
          </a:prstGeom>
          <a:solidFill>
            <a:srgbClr val="F0F4FF"/>
          </a:solidFill>
          <a:ln w="12700">
            <a:solidFill>
              <a:srgbClr val="D0DCEF"/>
            </a:solidFill>
            <a:prstDash val="solid"/>
          </a:ln>
        </p:spPr>
        <p:txBody>
          <a:bodyPr/>
          <a:lstStyle/>
          <a:p>
            <a:endParaRPr lang="en-US"/>
          </a:p>
        </p:txBody>
      </p:sp>
      <p:pic>
        <p:nvPicPr>
          <p:cNvPr id="15" name="Image 1" descr="preencoded.png"/>
          <p:cNvPicPr>
            <a:picLocks noChangeAspect="1"/>
          </p:cNvPicPr>
          <p:nvPr/>
        </p:nvPicPr>
        <p:blipFill>
          <a:blip r:embed="rId3"/>
          <a:stretch>
            <a:fillRect/>
          </a:stretch>
        </p:blipFill>
        <p:spPr>
          <a:xfrm>
            <a:off x="4507992" y="2359152"/>
            <a:ext cx="356616" cy="356616"/>
          </a:xfrm>
          <a:prstGeom prst="rect">
            <a:avLst/>
          </a:prstGeom>
        </p:spPr>
      </p:pic>
      <p:sp>
        <p:nvSpPr>
          <p:cNvPr id="16" name="Text 12"/>
          <p:cNvSpPr/>
          <p:nvPr/>
        </p:nvSpPr>
        <p:spPr>
          <a:xfrm>
            <a:off x="4389120" y="3017520"/>
            <a:ext cx="25146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Kaspersky KCS</a:t>
            </a:r>
            <a:endParaRPr lang="en-US" sz="2000" dirty="0"/>
          </a:p>
        </p:txBody>
      </p:sp>
      <p:sp>
        <p:nvSpPr>
          <p:cNvPr id="17" name="Text 13"/>
          <p:cNvSpPr/>
          <p:nvPr/>
        </p:nvSpPr>
        <p:spPr>
          <a:xfrm>
            <a:off x="4389120" y="3429000"/>
            <a:ext cx="2514600" cy="320040"/>
          </a:xfrm>
          <a:prstGeom prst="rect">
            <a:avLst/>
          </a:prstGeom>
          <a:noFill/>
          <a:ln/>
        </p:spPr>
        <p:txBody>
          <a:bodyPr wrap="square" lIns="0" tIns="0" rIns="0" bIns="0" rtlCol="0" anchor="ctr"/>
          <a:lstStyle/>
          <a:p>
            <a:pPr marL="0" indent="0">
              <a:buNone/>
            </a:pPr>
            <a:r>
              <a:rPr lang="en-US" sz="1300" i="1" dirty="0">
                <a:solidFill>
                  <a:srgbClr val="0D9488"/>
                </a:solidFill>
                <a:latin typeface="Ubuntu" pitchFamily="34" charset="0"/>
                <a:ea typeface="Ubuntu" pitchFamily="34" charset="-122"/>
                <a:cs typeface="Ubuntu" pitchFamily="34" charset="-120"/>
              </a:rPr>
              <a:t>ML-powered container defense</a:t>
            </a:r>
            <a:endParaRPr lang="en-US" sz="1300" dirty="0"/>
          </a:p>
        </p:txBody>
      </p:sp>
      <p:sp>
        <p:nvSpPr>
          <p:cNvPr id="18" name="Shape 14"/>
          <p:cNvSpPr/>
          <p:nvPr/>
        </p:nvSpPr>
        <p:spPr>
          <a:xfrm>
            <a:off x="4389120" y="3886200"/>
            <a:ext cx="2514600" cy="0"/>
          </a:xfrm>
          <a:prstGeom prst="line">
            <a:avLst/>
          </a:prstGeom>
          <a:noFill/>
          <a:ln w="6350">
            <a:solidFill>
              <a:srgbClr val="E2E5EE"/>
            </a:solidFill>
            <a:prstDash val="solid"/>
          </a:ln>
        </p:spPr>
        <p:txBody>
          <a:bodyPr/>
          <a:lstStyle/>
          <a:p>
            <a:endParaRPr lang="en-US"/>
          </a:p>
        </p:txBody>
      </p:sp>
      <p:sp>
        <p:nvSpPr>
          <p:cNvPr id="19" name="Text 15"/>
          <p:cNvSpPr/>
          <p:nvPr/>
        </p:nvSpPr>
        <p:spPr>
          <a:xfrm>
            <a:off x="4389120" y="4069080"/>
            <a:ext cx="2514600" cy="1188720"/>
          </a:xfrm>
          <a:prstGeom prst="rect">
            <a:avLst/>
          </a:prstGeom>
          <a:noFill/>
          <a:ln/>
        </p:spPr>
        <p:txBody>
          <a:bodyPr wrap="square" lIns="0" tIns="0" rIns="0" bIns="0" rtlCol="0" anchor="ctr"/>
          <a:lstStyle/>
          <a:p>
            <a:pPr marL="0" indent="0">
              <a:buNone/>
            </a:pPr>
            <a:r>
              <a:rPr lang="en-US" sz="1300" dirty="0">
                <a:solidFill>
                  <a:srgbClr val="52586B"/>
                </a:solidFill>
                <a:latin typeface="Ubuntu" pitchFamily="34" charset="0"/>
                <a:ea typeface="Ubuntu" pitchFamily="34" charset="-122"/>
                <a:cs typeface="Ubuntu" pitchFamily="34" charset="-120"/>
              </a:rPr>
              <a:t>Astraea ML engine for zero-day malware detection, CVE scanning, behavioral analysis, and threat intelligence integration for containers.</a:t>
            </a:r>
            <a:endParaRPr lang="en-US" sz="1300" dirty="0"/>
          </a:p>
        </p:txBody>
      </p:sp>
      <p:sp>
        <p:nvSpPr>
          <p:cNvPr id="20" name="Shape 16"/>
          <p:cNvSpPr/>
          <p:nvPr/>
        </p:nvSpPr>
        <p:spPr>
          <a:xfrm>
            <a:off x="7498080" y="1920240"/>
            <a:ext cx="3063240" cy="3840480"/>
          </a:xfrm>
          <a:prstGeom prst="rect">
            <a:avLst/>
          </a:prstGeom>
          <a:solidFill>
            <a:srgbClr val="F8F9FC"/>
          </a:solidFill>
          <a:ln w="12700">
            <a:solidFill>
              <a:srgbClr val="E2E5EE"/>
            </a:solidFill>
            <a:prstDash val="solid"/>
          </a:ln>
          <a:effectLst>
            <a:outerShdw blurRad="76200" dist="25400" dir="8100000" algn="bl" rotWithShape="0">
              <a:srgbClr val="000000">
                <a:alpha val="8000"/>
              </a:srgbClr>
            </a:outerShdw>
          </a:effectLst>
        </p:spPr>
        <p:txBody>
          <a:bodyPr/>
          <a:lstStyle/>
          <a:p>
            <a:endParaRPr lang="en-US"/>
          </a:p>
        </p:txBody>
      </p:sp>
      <p:sp>
        <p:nvSpPr>
          <p:cNvPr id="21" name="Shape 17"/>
          <p:cNvSpPr/>
          <p:nvPr/>
        </p:nvSpPr>
        <p:spPr>
          <a:xfrm>
            <a:off x="7498080" y="1920240"/>
            <a:ext cx="3063240" cy="54864"/>
          </a:xfrm>
          <a:prstGeom prst="rect">
            <a:avLst/>
          </a:prstGeom>
          <a:solidFill>
            <a:srgbClr val="F97316"/>
          </a:solidFill>
          <a:ln/>
        </p:spPr>
        <p:txBody>
          <a:bodyPr/>
          <a:lstStyle/>
          <a:p>
            <a:endParaRPr lang="en-US"/>
          </a:p>
        </p:txBody>
      </p:sp>
      <p:sp>
        <p:nvSpPr>
          <p:cNvPr id="22" name="Shape 18"/>
          <p:cNvSpPr/>
          <p:nvPr/>
        </p:nvSpPr>
        <p:spPr>
          <a:xfrm>
            <a:off x="7772400" y="2240280"/>
            <a:ext cx="594360" cy="594360"/>
          </a:xfrm>
          <a:prstGeom prst="line">
            <a:avLst/>
          </a:prstGeom>
          <a:solidFill>
            <a:srgbClr val="F0F4FF"/>
          </a:solidFill>
          <a:ln w="12700">
            <a:solidFill>
              <a:srgbClr val="D0DCEF"/>
            </a:solidFill>
            <a:prstDash val="solid"/>
          </a:ln>
        </p:spPr>
        <p:txBody>
          <a:bodyPr/>
          <a:lstStyle/>
          <a:p>
            <a:endParaRPr lang="en-US"/>
          </a:p>
        </p:txBody>
      </p:sp>
      <p:pic>
        <p:nvPicPr>
          <p:cNvPr id="23" name="Image 2" descr="preencoded.png"/>
          <p:cNvPicPr>
            <a:picLocks noChangeAspect="1"/>
          </p:cNvPicPr>
          <p:nvPr/>
        </p:nvPicPr>
        <p:blipFill>
          <a:blip r:embed="rId4"/>
          <a:stretch>
            <a:fillRect/>
          </a:stretch>
        </p:blipFill>
        <p:spPr>
          <a:xfrm>
            <a:off x="7891272" y="2359152"/>
            <a:ext cx="356616" cy="356616"/>
          </a:xfrm>
          <a:prstGeom prst="rect">
            <a:avLst/>
          </a:prstGeom>
        </p:spPr>
      </p:pic>
      <p:sp>
        <p:nvSpPr>
          <p:cNvPr id="24" name="Text 19"/>
          <p:cNvSpPr/>
          <p:nvPr/>
        </p:nvSpPr>
        <p:spPr>
          <a:xfrm>
            <a:off x="7772400" y="3017520"/>
            <a:ext cx="25146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Prisma Cloud</a:t>
            </a:r>
            <a:endParaRPr lang="en-US" sz="2000" dirty="0"/>
          </a:p>
        </p:txBody>
      </p:sp>
      <p:sp>
        <p:nvSpPr>
          <p:cNvPr id="25" name="Text 20"/>
          <p:cNvSpPr/>
          <p:nvPr/>
        </p:nvSpPr>
        <p:spPr>
          <a:xfrm>
            <a:off x="7772400" y="3429000"/>
            <a:ext cx="2514600" cy="320040"/>
          </a:xfrm>
          <a:prstGeom prst="rect">
            <a:avLst/>
          </a:prstGeom>
          <a:noFill/>
          <a:ln/>
        </p:spPr>
        <p:txBody>
          <a:bodyPr wrap="square" lIns="0" tIns="0" rIns="0" bIns="0" rtlCol="0" anchor="ctr"/>
          <a:lstStyle/>
          <a:p>
            <a:pPr marL="0" indent="0">
              <a:buNone/>
            </a:pPr>
            <a:r>
              <a:rPr lang="en-US" sz="1300" i="1" dirty="0">
                <a:solidFill>
                  <a:srgbClr val="F97316"/>
                </a:solidFill>
                <a:latin typeface="Ubuntu" pitchFamily="34" charset="0"/>
                <a:ea typeface="Ubuntu" pitchFamily="34" charset="-122"/>
                <a:cs typeface="Ubuntu" pitchFamily="34" charset="-120"/>
              </a:rPr>
              <a:t>Code-to-cloud CNAPP</a:t>
            </a:r>
            <a:endParaRPr lang="en-US" sz="1300" dirty="0"/>
          </a:p>
        </p:txBody>
      </p:sp>
      <p:sp>
        <p:nvSpPr>
          <p:cNvPr id="26" name="Shape 21"/>
          <p:cNvSpPr/>
          <p:nvPr/>
        </p:nvSpPr>
        <p:spPr>
          <a:xfrm>
            <a:off x="7772400" y="3886200"/>
            <a:ext cx="2514600" cy="0"/>
          </a:xfrm>
          <a:prstGeom prst="line">
            <a:avLst/>
          </a:prstGeom>
          <a:noFill/>
          <a:ln w="6350">
            <a:solidFill>
              <a:srgbClr val="E2E5EE"/>
            </a:solidFill>
            <a:prstDash val="solid"/>
          </a:ln>
        </p:spPr>
        <p:txBody>
          <a:bodyPr/>
          <a:lstStyle/>
          <a:p>
            <a:endParaRPr lang="en-US"/>
          </a:p>
        </p:txBody>
      </p:sp>
      <p:sp>
        <p:nvSpPr>
          <p:cNvPr id="27" name="Text 22"/>
          <p:cNvSpPr/>
          <p:nvPr/>
        </p:nvSpPr>
        <p:spPr>
          <a:xfrm>
            <a:off x="7772400" y="4069080"/>
            <a:ext cx="2514600" cy="1188720"/>
          </a:xfrm>
          <a:prstGeom prst="rect">
            <a:avLst/>
          </a:prstGeom>
          <a:noFill/>
          <a:ln/>
        </p:spPr>
        <p:txBody>
          <a:bodyPr wrap="square" lIns="0" tIns="0" rIns="0" bIns="0" rtlCol="0" anchor="ctr"/>
          <a:lstStyle/>
          <a:p>
            <a:pPr marL="0" indent="0">
              <a:buNone/>
            </a:pPr>
            <a:r>
              <a:rPr lang="en-US" sz="1300" dirty="0">
                <a:solidFill>
                  <a:srgbClr val="52586B"/>
                </a:solidFill>
                <a:latin typeface="Ubuntu" pitchFamily="34" charset="0"/>
                <a:ea typeface="Ubuntu" pitchFamily="34" charset="-122"/>
                <a:cs typeface="Ubuntu" pitchFamily="34" charset="-120"/>
              </a:rPr>
              <a:t>Unified CNAPP with 8 modules: SAST, SCA, IaC, CSPM, CWP, CIEM, ASPM, and Precision AI attack-path analysis.</a:t>
            </a:r>
            <a:endParaRPr lang="en-US" sz="1300" dirty="0"/>
          </a:p>
        </p:txBody>
      </p:sp>
      <p:sp>
        <p:nvSpPr>
          <p:cNvPr id="28" name="Shape 23"/>
          <p:cNvSpPr/>
          <p:nvPr/>
        </p:nvSpPr>
        <p:spPr>
          <a:xfrm>
            <a:off x="10881360" y="1920240"/>
            <a:ext cx="3063240" cy="3840480"/>
          </a:xfrm>
          <a:prstGeom prst="rect">
            <a:avLst/>
          </a:prstGeom>
          <a:solidFill>
            <a:srgbClr val="F8F9FC"/>
          </a:solidFill>
          <a:ln w="12700">
            <a:solidFill>
              <a:srgbClr val="E2E5EE"/>
            </a:solidFill>
            <a:prstDash val="solid"/>
          </a:ln>
          <a:effectLst>
            <a:outerShdw blurRad="76200" dist="25400" dir="8100000" algn="bl" rotWithShape="0">
              <a:srgbClr val="000000">
                <a:alpha val="8000"/>
              </a:srgbClr>
            </a:outerShdw>
          </a:effectLst>
        </p:spPr>
        <p:txBody>
          <a:bodyPr/>
          <a:lstStyle/>
          <a:p>
            <a:endParaRPr lang="en-US"/>
          </a:p>
        </p:txBody>
      </p:sp>
      <p:sp>
        <p:nvSpPr>
          <p:cNvPr id="29" name="Shape 24"/>
          <p:cNvSpPr/>
          <p:nvPr/>
        </p:nvSpPr>
        <p:spPr>
          <a:xfrm>
            <a:off x="10881360" y="1920240"/>
            <a:ext cx="3063240" cy="54864"/>
          </a:xfrm>
          <a:prstGeom prst="rect">
            <a:avLst/>
          </a:prstGeom>
          <a:solidFill>
            <a:srgbClr val="10B981"/>
          </a:solidFill>
          <a:ln/>
        </p:spPr>
        <p:txBody>
          <a:bodyPr/>
          <a:lstStyle/>
          <a:p>
            <a:endParaRPr lang="en-US"/>
          </a:p>
        </p:txBody>
      </p:sp>
      <p:sp>
        <p:nvSpPr>
          <p:cNvPr id="30" name="Shape 25"/>
          <p:cNvSpPr/>
          <p:nvPr/>
        </p:nvSpPr>
        <p:spPr>
          <a:xfrm>
            <a:off x="11155680" y="2240280"/>
            <a:ext cx="594360" cy="594360"/>
          </a:xfrm>
          <a:prstGeom prst="line">
            <a:avLst/>
          </a:prstGeom>
          <a:solidFill>
            <a:srgbClr val="F0F4FF"/>
          </a:solidFill>
          <a:ln w="12700">
            <a:solidFill>
              <a:srgbClr val="D0DCEF"/>
            </a:solidFill>
            <a:prstDash val="solid"/>
          </a:ln>
        </p:spPr>
        <p:txBody>
          <a:bodyPr/>
          <a:lstStyle/>
          <a:p>
            <a:endParaRPr lang="en-US"/>
          </a:p>
        </p:txBody>
      </p:sp>
      <p:pic>
        <p:nvPicPr>
          <p:cNvPr id="31" name="Image 3" descr="preencoded.png"/>
          <p:cNvPicPr>
            <a:picLocks noChangeAspect="1"/>
          </p:cNvPicPr>
          <p:nvPr/>
        </p:nvPicPr>
        <p:blipFill>
          <a:blip r:embed="rId5"/>
          <a:stretch>
            <a:fillRect/>
          </a:stretch>
        </p:blipFill>
        <p:spPr>
          <a:xfrm>
            <a:off x="11274552" y="2359152"/>
            <a:ext cx="356616" cy="356616"/>
          </a:xfrm>
          <a:prstGeom prst="rect">
            <a:avLst/>
          </a:prstGeom>
        </p:spPr>
      </p:pic>
      <p:sp>
        <p:nvSpPr>
          <p:cNvPr id="32" name="Text 26"/>
          <p:cNvSpPr/>
          <p:nvPr/>
        </p:nvSpPr>
        <p:spPr>
          <a:xfrm>
            <a:off x="11155680" y="3017520"/>
            <a:ext cx="2514600" cy="365760"/>
          </a:xfrm>
          <a:prstGeom prst="rect">
            <a:avLst/>
          </a:prstGeom>
          <a:noFill/>
          <a:ln/>
        </p:spPr>
        <p:txBody>
          <a:bodyPr wrap="square" lIns="0" tIns="0" rIns="0" bIns="0" rtlCol="0" anchor="ctr"/>
          <a:lstStyle/>
          <a:p>
            <a:pPr marL="0" indent="0">
              <a:buNone/>
            </a:pPr>
            <a:r>
              <a:rPr lang="en-US" sz="2000" b="1" dirty="0">
                <a:solidFill>
                  <a:srgbClr val="373B48"/>
                </a:solidFill>
                <a:latin typeface="Ubuntu" pitchFamily="34" charset="0"/>
                <a:ea typeface="Ubuntu" pitchFamily="34" charset="-122"/>
                <a:cs typeface="Ubuntu" pitchFamily="34" charset="-120"/>
              </a:rPr>
              <a:t>SonarQube AI</a:t>
            </a:r>
            <a:endParaRPr lang="en-US" sz="2000" dirty="0"/>
          </a:p>
        </p:txBody>
      </p:sp>
      <p:sp>
        <p:nvSpPr>
          <p:cNvPr id="33" name="Text 27"/>
          <p:cNvSpPr/>
          <p:nvPr/>
        </p:nvSpPr>
        <p:spPr>
          <a:xfrm>
            <a:off x="11155680" y="3429000"/>
            <a:ext cx="2514600" cy="320040"/>
          </a:xfrm>
          <a:prstGeom prst="rect">
            <a:avLst/>
          </a:prstGeom>
          <a:noFill/>
          <a:ln/>
        </p:spPr>
        <p:txBody>
          <a:bodyPr wrap="square" lIns="0" tIns="0" rIns="0" bIns="0" rtlCol="0" anchor="ctr"/>
          <a:lstStyle/>
          <a:p>
            <a:pPr marL="0" indent="0">
              <a:buNone/>
            </a:pPr>
            <a:r>
              <a:rPr lang="en-US" sz="1300" i="1" dirty="0">
                <a:solidFill>
                  <a:srgbClr val="10B981"/>
                </a:solidFill>
                <a:latin typeface="Ubuntu" pitchFamily="34" charset="0"/>
                <a:ea typeface="Ubuntu" pitchFamily="34" charset="-122"/>
                <a:cs typeface="Ubuntu" pitchFamily="34" charset="-120"/>
              </a:rPr>
              <a:t>AI-powered code quality</a:t>
            </a:r>
            <a:endParaRPr lang="en-US" sz="1300" dirty="0"/>
          </a:p>
        </p:txBody>
      </p:sp>
      <p:sp>
        <p:nvSpPr>
          <p:cNvPr id="34" name="Shape 28"/>
          <p:cNvSpPr/>
          <p:nvPr/>
        </p:nvSpPr>
        <p:spPr>
          <a:xfrm>
            <a:off x="11155680" y="3886200"/>
            <a:ext cx="2514600" cy="0"/>
          </a:xfrm>
          <a:prstGeom prst="line">
            <a:avLst/>
          </a:prstGeom>
          <a:noFill/>
          <a:ln w="6350">
            <a:solidFill>
              <a:srgbClr val="E2E5EE"/>
            </a:solidFill>
            <a:prstDash val="solid"/>
          </a:ln>
        </p:spPr>
        <p:txBody>
          <a:bodyPr/>
          <a:lstStyle/>
          <a:p>
            <a:endParaRPr lang="en-US"/>
          </a:p>
        </p:txBody>
      </p:sp>
      <p:sp>
        <p:nvSpPr>
          <p:cNvPr id="35" name="Text 29"/>
          <p:cNvSpPr/>
          <p:nvPr/>
        </p:nvSpPr>
        <p:spPr>
          <a:xfrm>
            <a:off x="11155680" y="4069080"/>
            <a:ext cx="2514600" cy="1188720"/>
          </a:xfrm>
          <a:prstGeom prst="rect">
            <a:avLst/>
          </a:prstGeom>
          <a:noFill/>
          <a:ln/>
        </p:spPr>
        <p:txBody>
          <a:bodyPr wrap="square" lIns="0" tIns="0" rIns="0" bIns="0" rtlCol="0" anchor="ctr"/>
          <a:lstStyle/>
          <a:p>
            <a:pPr marL="0" indent="0">
              <a:buNone/>
            </a:pPr>
            <a:r>
              <a:rPr lang="en-US" sz="1300" dirty="0">
                <a:solidFill>
                  <a:srgbClr val="52586B"/>
                </a:solidFill>
                <a:latin typeface="Ubuntu" pitchFamily="34" charset="0"/>
                <a:ea typeface="Ubuntu" pitchFamily="34" charset="-122"/>
                <a:cs typeface="Ubuntu" pitchFamily="34" charset="-120"/>
              </a:rPr>
              <a:t>AI CodeFix auto-remediation, AI Code Assurance for AI-generated code governance, SonarLint IDE plugin, and deep SAST analysis.</a:t>
            </a:r>
            <a:endParaRPr lang="en-US" sz="1300" dirty="0"/>
          </a:p>
        </p:txBody>
      </p:sp>
      <p:sp>
        <p:nvSpPr>
          <p:cNvPr id="36" name="Shape 30"/>
          <p:cNvSpPr/>
          <p:nvPr/>
        </p:nvSpPr>
        <p:spPr>
          <a:xfrm>
            <a:off x="731520" y="7516368"/>
            <a:ext cx="13167360" cy="0"/>
          </a:xfrm>
          <a:prstGeom prst="line">
            <a:avLst/>
          </a:prstGeom>
          <a:noFill/>
          <a:ln w="19050">
            <a:solidFill>
              <a:srgbClr val="3B82F6"/>
            </a:solidFill>
            <a:prstDash val="solid"/>
          </a:ln>
        </p:spPr>
        <p:txBody>
          <a:bodyPr/>
          <a:lstStyle/>
          <a:p>
            <a:endParaRPr lang="en-US"/>
          </a:p>
        </p:txBody>
      </p:sp>
      <p:pic>
        <p:nvPicPr>
          <p:cNvPr id="37" name="Image 4" descr="/sessions/relaxed-confident-mccarthy/unpacked/ppt/media/image3.png"/>
          <p:cNvPicPr>
            <a:picLocks noChangeAspect="1"/>
          </p:cNvPicPr>
          <p:nvPr/>
        </p:nvPicPr>
        <p:blipFill>
          <a:blip r:embed="rId6"/>
          <a:stretch>
            <a:fillRect/>
          </a:stretch>
        </p:blipFill>
        <p:spPr>
          <a:xfrm>
            <a:off x="12893040" y="7178040"/>
            <a:ext cx="1005840" cy="502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373B48"/>
        </a:solidFill>
        <a:effectLst/>
      </p:bgPr>
    </p:bg>
    <p:spTree>
      <p:nvGrpSpPr>
        <p:cNvPr id="1" name=""/>
        <p:cNvGrpSpPr/>
        <p:nvPr/>
      </p:nvGrpSpPr>
      <p:grpSpPr>
        <a:xfrm>
          <a:off x="0" y="0"/>
          <a:ext cx="0" cy="0"/>
          <a:chOff x="0" y="0"/>
          <a:chExt cx="0" cy="0"/>
        </a:xfrm>
      </p:grpSpPr>
      <p:sp>
        <p:nvSpPr>
          <p:cNvPr id="2" name="Text 0"/>
          <p:cNvSpPr/>
          <p:nvPr/>
        </p:nvSpPr>
        <p:spPr>
          <a:xfrm>
            <a:off x="731520" y="1371600"/>
            <a:ext cx="3657600" cy="1828800"/>
          </a:xfrm>
          <a:prstGeom prst="rect">
            <a:avLst/>
          </a:prstGeom>
          <a:noFill/>
          <a:ln/>
        </p:spPr>
        <p:txBody>
          <a:bodyPr wrap="square" lIns="0" tIns="0" rIns="0" bIns="0" rtlCol="0" anchor="ctr"/>
          <a:lstStyle/>
          <a:p>
            <a:pPr marL="0" indent="0">
              <a:buNone/>
            </a:pPr>
            <a:r>
              <a:rPr lang="en-US" sz="12000" b="1" dirty="0">
                <a:solidFill>
                  <a:srgbClr val="3B82F6"/>
                </a:solidFill>
                <a:latin typeface="Ubuntu" pitchFamily="34" charset="0"/>
                <a:ea typeface="Ubuntu" pitchFamily="34" charset="-122"/>
                <a:cs typeface="Ubuntu" pitchFamily="34" charset="-120"/>
              </a:rPr>
              <a:t>01</a:t>
            </a:r>
            <a:endParaRPr lang="en-US" sz="12000" dirty="0"/>
          </a:p>
        </p:txBody>
      </p:sp>
      <p:sp>
        <p:nvSpPr>
          <p:cNvPr id="3" name="Text 1"/>
          <p:cNvSpPr/>
          <p:nvPr/>
        </p:nvSpPr>
        <p:spPr>
          <a:xfrm>
            <a:off x="731520" y="3474720"/>
            <a:ext cx="10972800" cy="1097280"/>
          </a:xfrm>
          <a:prstGeom prst="rect">
            <a:avLst/>
          </a:prstGeom>
          <a:noFill/>
          <a:ln/>
        </p:spPr>
        <p:txBody>
          <a:bodyPr wrap="square" lIns="0" tIns="0" rIns="0" bIns="0" rtlCol="0" anchor="ctr"/>
          <a:lstStyle/>
          <a:p>
            <a:pPr marL="0" indent="0">
              <a:buNone/>
            </a:pPr>
            <a:r>
              <a:rPr lang="en-US" sz="4800" b="1" dirty="0">
                <a:solidFill>
                  <a:srgbClr val="FFFFFF"/>
                </a:solidFill>
                <a:latin typeface="Ubuntu" pitchFamily="34" charset="0"/>
                <a:ea typeface="Ubuntu" pitchFamily="34" charset="-122"/>
                <a:cs typeface="Ubuntu" pitchFamily="34" charset="-120"/>
              </a:rPr>
              <a:t>Red Hat ACS + SonarQube AI</a:t>
            </a:r>
            <a:endParaRPr lang="en-US" sz="4800" dirty="0"/>
          </a:p>
        </p:txBody>
      </p:sp>
      <p:sp>
        <p:nvSpPr>
          <p:cNvPr id="4" name="Text 2"/>
          <p:cNvSpPr/>
          <p:nvPr/>
        </p:nvSpPr>
        <p:spPr>
          <a:xfrm>
            <a:off x="731520" y="4754880"/>
            <a:ext cx="9144000" cy="731520"/>
          </a:xfrm>
          <a:prstGeom prst="rect">
            <a:avLst/>
          </a:prstGeom>
          <a:noFill/>
          <a:ln/>
        </p:spPr>
        <p:txBody>
          <a:bodyPr wrap="square" lIns="0" tIns="0" rIns="0" bIns="0" rtlCol="0" anchor="ctr"/>
          <a:lstStyle/>
          <a:p>
            <a:pPr marL="0" indent="0">
              <a:buNone/>
            </a:pPr>
            <a:r>
              <a:rPr lang="en-US" sz="2000" dirty="0">
                <a:solidFill>
                  <a:srgbClr val="9CA3AF"/>
                </a:solidFill>
                <a:latin typeface="Ubuntu" pitchFamily="34" charset="0"/>
                <a:ea typeface="Ubuntu" pitchFamily="34" charset="-122"/>
                <a:cs typeface="Ubuntu" pitchFamily="34" charset="-120"/>
              </a:rPr>
              <a:t>Kubernetes-native container security with AI-powered code quality, vulnerability detection, and eBPF runtime monitoring</a:t>
            </a:r>
            <a:endParaRPr lang="en-US" sz="2000" dirty="0"/>
          </a:p>
        </p:txBody>
      </p:sp>
      <p:sp>
        <p:nvSpPr>
          <p:cNvPr id="5" name="Shape 3"/>
          <p:cNvSpPr/>
          <p:nvPr/>
        </p:nvSpPr>
        <p:spPr>
          <a:xfrm>
            <a:off x="731520" y="7516368"/>
            <a:ext cx="13167360" cy="0"/>
          </a:xfrm>
          <a:prstGeom prst="line">
            <a:avLst/>
          </a:prstGeom>
          <a:noFill/>
          <a:ln w="25400">
            <a:solidFill>
              <a:srgbClr val="3B82F6"/>
            </a:solidFill>
            <a:prstDash val="solid"/>
          </a:ln>
        </p:spPr>
        <p:txBody>
          <a:bodyPr/>
          <a:lstStyle/>
          <a:p>
            <a:endParaRPr lang="en-US"/>
          </a:p>
        </p:txBody>
      </p:sp>
      <p:pic>
        <p:nvPicPr>
          <p:cNvPr id="6" name="Image 0" descr="/sessions/relaxed-confident-mccarthy/unpacked/ppt/media/image3.png"/>
          <p:cNvPicPr>
            <a:picLocks noChangeAspect="1"/>
          </p:cNvPicPr>
          <p:nvPr/>
        </p:nvPicPr>
        <p:blipFill>
          <a:blip r:embed="rId2"/>
          <a:stretch>
            <a:fillRect/>
          </a:stretch>
        </p:blipFill>
        <p:spPr>
          <a:xfrm>
            <a:off x="12893040" y="7178040"/>
            <a:ext cx="1005840" cy="502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11887200" cy="640080"/>
          </a:xfrm>
          <a:prstGeom prst="rect">
            <a:avLst/>
          </a:prstGeom>
          <a:noFill/>
          <a:ln/>
        </p:spPr>
        <p:txBody>
          <a:bodyPr wrap="square" lIns="0" tIns="0" rIns="0" bIns="0" rtlCol="0" anchor="ctr"/>
          <a:lstStyle/>
          <a:p>
            <a:pPr marL="0" indent="0">
              <a:buNone/>
            </a:pPr>
            <a:r>
              <a:rPr lang="en-US" sz="3900" b="1" dirty="0">
                <a:solidFill>
                  <a:srgbClr val="373B48"/>
                </a:solidFill>
                <a:latin typeface="Ubuntu" pitchFamily="34" charset="0"/>
                <a:ea typeface="Ubuntu" pitchFamily="34" charset="-122"/>
                <a:cs typeface="Ubuntu" pitchFamily="34" charset="-120"/>
              </a:rPr>
              <a:t>Use Case 1</a:t>
            </a:r>
            <a:endParaRPr lang="en-US" sz="3900" dirty="0"/>
          </a:p>
        </p:txBody>
      </p:sp>
      <p:sp>
        <p:nvSpPr>
          <p:cNvPr id="3" name="Text 1"/>
          <p:cNvSpPr/>
          <p:nvPr/>
        </p:nvSpPr>
        <p:spPr>
          <a:xfrm>
            <a:off x="731520" y="1234440"/>
            <a:ext cx="11887200" cy="457200"/>
          </a:xfrm>
          <a:prstGeom prst="rect">
            <a:avLst/>
          </a:prstGeom>
          <a:noFill/>
          <a:ln/>
        </p:spPr>
        <p:txBody>
          <a:bodyPr wrap="square" lIns="0" tIns="0" rIns="0" bIns="0" rtlCol="0" anchor="ctr"/>
          <a:lstStyle/>
          <a:p>
            <a:pPr marL="0" indent="0">
              <a:buNone/>
            </a:pPr>
            <a:r>
              <a:rPr lang="en-US" sz="1800" dirty="0">
                <a:solidFill>
                  <a:srgbClr val="52586B"/>
                </a:solidFill>
                <a:latin typeface="Ubuntu" pitchFamily="34" charset="0"/>
                <a:ea typeface="Ubuntu" pitchFamily="34" charset="-122"/>
                <a:cs typeface="Ubuntu" pitchFamily="34" charset="-120"/>
              </a:rPr>
              <a:t>Red Hat ACS + SonarQube AI Pipeline</a:t>
            </a:r>
            <a:endParaRPr lang="en-US" sz="1800" dirty="0"/>
          </a:p>
        </p:txBody>
      </p:sp>
      <p:sp>
        <p:nvSpPr>
          <p:cNvPr id="4" name="Shape 2"/>
          <p:cNvSpPr/>
          <p:nvPr/>
        </p:nvSpPr>
        <p:spPr>
          <a:xfrm>
            <a:off x="731520" y="1920240"/>
            <a:ext cx="6400800" cy="2377440"/>
          </a:xfrm>
          <a:prstGeom prst="rect">
            <a:avLst/>
          </a:prstGeom>
          <a:solidFill>
            <a:srgbClr val="F8F9FC"/>
          </a:solidFill>
          <a:ln w="12700">
            <a:solidFill>
              <a:srgbClr val="E2E5EE"/>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731520" y="1920240"/>
            <a:ext cx="54864" cy="2377440"/>
          </a:xfrm>
          <a:prstGeom prst="rect">
            <a:avLst/>
          </a:prstGeom>
          <a:solidFill>
            <a:srgbClr val="EE0000"/>
          </a:solidFill>
          <a:ln/>
        </p:spPr>
        <p:txBody>
          <a:bodyPr/>
          <a:lstStyle/>
          <a:p>
            <a:endParaRPr lang="en-US"/>
          </a:p>
        </p:txBody>
      </p:sp>
      <p:sp>
        <p:nvSpPr>
          <p:cNvPr id="6" name="Text 4"/>
          <p:cNvSpPr/>
          <p:nvPr/>
        </p:nvSpPr>
        <p:spPr>
          <a:xfrm>
            <a:off x="1051560" y="2057400"/>
            <a:ext cx="5852160" cy="365760"/>
          </a:xfrm>
          <a:prstGeom prst="rect">
            <a:avLst/>
          </a:prstGeom>
          <a:noFill/>
          <a:ln/>
        </p:spPr>
        <p:txBody>
          <a:bodyPr wrap="square" lIns="0" tIns="0" rIns="0" bIns="0" rtlCol="0" anchor="ctr"/>
          <a:lstStyle/>
          <a:p>
            <a:pPr marL="0" indent="0">
              <a:buNone/>
            </a:pPr>
            <a:r>
              <a:rPr lang="en-US" sz="1800" b="1" dirty="0">
                <a:solidFill>
                  <a:srgbClr val="373B48"/>
                </a:solidFill>
                <a:latin typeface="Ubuntu" pitchFamily="34" charset="0"/>
                <a:ea typeface="Ubuntu" pitchFamily="34" charset="-122"/>
                <a:cs typeface="Ubuntu" pitchFamily="34" charset="-120"/>
              </a:rPr>
              <a:t>The Challenge</a:t>
            </a:r>
            <a:endParaRPr lang="en-US" sz="1800" dirty="0"/>
          </a:p>
        </p:txBody>
      </p:sp>
      <p:sp>
        <p:nvSpPr>
          <p:cNvPr id="7" name="Text 5"/>
          <p:cNvSpPr/>
          <p:nvPr/>
        </p:nvSpPr>
        <p:spPr>
          <a:xfrm>
            <a:off x="1051560" y="2514600"/>
            <a:ext cx="5852160" cy="155448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Kubernetes environments need both deep code quality analysis and container-native runtime security. Traditional SAST tools miss container-specific vulnerabilities, while security scanners ignore code quality. Teams need a unified 7-stage pipeline from IDE to production.</a:t>
            </a:r>
            <a:endParaRPr lang="en-US" sz="1400" dirty="0"/>
          </a:p>
        </p:txBody>
      </p:sp>
      <p:sp>
        <p:nvSpPr>
          <p:cNvPr id="8" name="Shape 6"/>
          <p:cNvSpPr/>
          <p:nvPr/>
        </p:nvSpPr>
        <p:spPr>
          <a:xfrm>
            <a:off x="731520" y="4572000"/>
            <a:ext cx="6400800" cy="2377440"/>
          </a:xfrm>
          <a:prstGeom prst="rect">
            <a:avLst/>
          </a:prstGeom>
          <a:solidFill>
            <a:srgbClr val="F8F9FC"/>
          </a:solidFill>
          <a:ln w="12700">
            <a:solidFill>
              <a:srgbClr val="E2E5EE"/>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731520" y="4572000"/>
            <a:ext cx="54864" cy="2377440"/>
          </a:xfrm>
          <a:prstGeom prst="rect">
            <a:avLst/>
          </a:prstGeom>
          <a:solidFill>
            <a:srgbClr val="10B981"/>
          </a:solidFill>
          <a:ln/>
        </p:spPr>
        <p:txBody>
          <a:bodyPr/>
          <a:lstStyle/>
          <a:p>
            <a:endParaRPr lang="en-US"/>
          </a:p>
        </p:txBody>
      </p:sp>
      <p:sp>
        <p:nvSpPr>
          <p:cNvPr id="10" name="Text 8"/>
          <p:cNvSpPr/>
          <p:nvPr/>
        </p:nvSpPr>
        <p:spPr>
          <a:xfrm>
            <a:off x="1051560" y="4709160"/>
            <a:ext cx="5852160" cy="365760"/>
          </a:xfrm>
          <a:prstGeom prst="rect">
            <a:avLst/>
          </a:prstGeom>
          <a:noFill/>
          <a:ln/>
        </p:spPr>
        <p:txBody>
          <a:bodyPr wrap="square" lIns="0" tIns="0" rIns="0" bIns="0" rtlCol="0" anchor="ctr"/>
          <a:lstStyle/>
          <a:p>
            <a:pPr marL="0" indent="0">
              <a:buNone/>
            </a:pPr>
            <a:r>
              <a:rPr lang="en-US" sz="1800" b="1" dirty="0">
                <a:solidFill>
                  <a:srgbClr val="373B48"/>
                </a:solidFill>
                <a:latin typeface="Ubuntu" pitchFamily="34" charset="0"/>
                <a:ea typeface="Ubuntu" pitchFamily="34" charset="-122"/>
                <a:cs typeface="Ubuntu" pitchFamily="34" charset="-120"/>
              </a:rPr>
              <a:t>The Solution</a:t>
            </a:r>
            <a:endParaRPr lang="en-US" sz="1800" dirty="0"/>
          </a:p>
        </p:txBody>
      </p:sp>
      <p:sp>
        <p:nvSpPr>
          <p:cNvPr id="11" name="Text 9"/>
          <p:cNvSpPr/>
          <p:nvPr/>
        </p:nvSpPr>
        <p:spPr>
          <a:xfrm>
            <a:off x="1051560" y="5166360"/>
            <a:ext cx="5852160" cy="155448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SonarQube AI provides SAST, AI CodeFix auto-remediation, and AI Code Assurance for AI-generated code governance. Red Hat ACS delivers StackRox-based image scanning, admission control, eBPF runtime monitoring, and network policy enforcement across all Kubernetes clusters.</a:t>
            </a:r>
            <a:endParaRPr lang="en-US" sz="1400" dirty="0"/>
          </a:p>
        </p:txBody>
      </p:sp>
      <p:sp>
        <p:nvSpPr>
          <p:cNvPr id="12" name="Shape 10"/>
          <p:cNvSpPr/>
          <p:nvPr/>
        </p:nvSpPr>
        <p:spPr>
          <a:xfrm>
            <a:off x="7498080" y="1920240"/>
            <a:ext cx="6217920" cy="5029200"/>
          </a:xfrm>
          <a:prstGeom prst="rect">
            <a:avLst/>
          </a:prstGeom>
          <a:solidFill>
            <a:srgbClr val="373B48"/>
          </a:solidFill>
          <a:ln/>
          <a:effectLst>
            <a:outerShdw blurRad="76200" dist="25400" dir="8100000" algn="bl" rotWithShape="0">
              <a:srgbClr val="000000">
                <a:alpha val="8000"/>
              </a:srgbClr>
            </a:outerShdw>
          </a:effectLst>
        </p:spPr>
        <p:txBody>
          <a:bodyPr/>
          <a:lstStyle/>
          <a:p>
            <a:endParaRPr lang="en-US"/>
          </a:p>
        </p:txBody>
      </p:sp>
      <p:sp>
        <p:nvSpPr>
          <p:cNvPr id="13" name="Text 11"/>
          <p:cNvSpPr/>
          <p:nvPr/>
        </p:nvSpPr>
        <p:spPr>
          <a:xfrm>
            <a:off x="7863840" y="2148840"/>
            <a:ext cx="5486400" cy="457200"/>
          </a:xfrm>
          <a:prstGeom prst="rect">
            <a:avLst/>
          </a:prstGeom>
          <a:noFill/>
          <a:ln/>
        </p:spPr>
        <p:txBody>
          <a:bodyPr wrap="square" lIns="0" tIns="0" rIns="0" bIns="0" rtlCol="0" anchor="ctr"/>
          <a:lstStyle/>
          <a:p>
            <a:pPr marL="0" indent="0">
              <a:buNone/>
            </a:pPr>
            <a:r>
              <a:rPr lang="en-US" sz="2200" b="1" dirty="0">
                <a:solidFill>
                  <a:srgbClr val="FFFFFF"/>
                </a:solidFill>
                <a:latin typeface="Ubuntu" pitchFamily="34" charset="0"/>
                <a:ea typeface="Ubuntu" pitchFamily="34" charset="-122"/>
                <a:cs typeface="Ubuntu" pitchFamily="34" charset="-120"/>
              </a:rPr>
              <a:t>Results</a:t>
            </a:r>
            <a:endParaRPr lang="en-US" sz="2200" dirty="0"/>
          </a:p>
        </p:txBody>
      </p:sp>
      <p:sp>
        <p:nvSpPr>
          <p:cNvPr id="14" name="Text 12"/>
          <p:cNvSpPr/>
          <p:nvPr/>
        </p:nvSpPr>
        <p:spPr>
          <a:xfrm>
            <a:off x="7863840" y="274320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7</a:t>
            </a:r>
            <a:endParaRPr lang="en-US" sz="3600" dirty="0"/>
          </a:p>
        </p:txBody>
      </p:sp>
      <p:sp>
        <p:nvSpPr>
          <p:cNvPr id="15" name="Text 13"/>
          <p:cNvSpPr/>
          <p:nvPr/>
        </p:nvSpPr>
        <p:spPr>
          <a:xfrm>
            <a:off x="7863840" y="320040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Pipeline stages with AI injection</a:t>
            </a:r>
            <a:endParaRPr lang="en-US" sz="1300" dirty="0"/>
          </a:p>
        </p:txBody>
      </p:sp>
      <p:sp>
        <p:nvSpPr>
          <p:cNvPr id="16" name="Shape 14"/>
          <p:cNvSpPr/>
          <p:nvPr/>
        </p:nvSpPr>
        <p:spPr>
          <a:xfrm>
            <a:off x="7863840" y="3611880"/>
            <a:ext cx="5303520" cy="0"/>
          </a:xfrm>
          <a:prstGeom prst="line">
            <a:avLst/>
          </a:prstGeom>
          <a:noFill/>
          <a:ln w="6350">
            <a:solidFill>
              <a:srgbClr val="4B5563"/>
            </a:solidFill>
            <a:prstDash val="solid"/>
          </a:ln>
        </p:spPr>
        <p:txBody>
          <a:bodyPr/>
          <a:lstStyle/>
          <a:p>
            <a:endParaRPr lang="en-US"/>
          </a:p>
        </p:txBody>
      </p:sp>
      <p:sp>
        <p:nvSpPr>
          <p:cNvPr id="17" name="Text 15"/>
          <p:cNvSpPr/>
          <p:nvPr/>
        </p:nvSpPr>
        <p:spPr>
          <a:xfrm>
            <a:off x="7863840" y="379476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6</a:t>
            </a:r>
            <a:endParaRPr lang="en-US" sz="3600" dirty="0"/>
          </a:p>
        </p:txBody>
      </p:sp>
      <p:sp>
        <p:nvSpPr>
          <p:cNvPr id="18" name="Text 16"/>
          <p:cNvSpPr/>
          <p:nvPr/>
        </p:nvSpPr>
        <p:spPr>
          <a:xfrm>
            <a:off x="7863840" y="425196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AI-powered security checkpoints</a:t>
            </a:r>
            <a:endParaRPr lang="en-US" sz="1300" dirty="0"/>
          </a:p>
        </p:txBody>
      </p:sp>
      <p:sp>
        <p:nvSpPr>
          <p:cNvPr id="19" name="Shape 17"/>
          <p:cNvSpPr/>
          <p:nvPr/>
        </p:nvSpPr>
        <p:spPr>
          <a:xfrm>
            <a:off x="7863840" y="4663440"/>
            <a:ext cx="5303520" cy="0"/>
          </a:xfrm>
          <a:prstGeom prst="line">
            <a:avLst/>
          </a:prstGeom>
          <a:noFill/>
          <a:ln w="6350">
            <a:solidFill>
              <a:srgbClr val="4B5563"/>
            </a:solidFill>
            <a:prstDash val="solid"/>
          </a:ln>
        </p:spPr>
        <p:txBody>
          <a:bodyPr/>
          <a:lstStyle/>
          <a:p>
            <a:endParaRPr lang="en-US"/>
          </a:p>
        </p:txBody>
      </p:sp>
      <p:sp>
        <p:nvSpPr>
          <p:cNvPr id="20" name="Text 18"/>
          <p:cNvSpPr/>
          <p:nvPr/>
        </p:nvSpPr>
        <p:spPr>
          <a:xfrm>
            <a:off x="7863840" y="484632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95%</a:t>
            </a:r>
            <a:endParaRPr lang="en-US" sz="3600" dirty="0"/>
          </a:p>
        </p:txBody>
      </p:sp>
      <p:sp>
        <p:nvSpPr>
          <p:cNvPr id="21" name="Text 19"/>
          <p:cNvSpPr/>
          <p:nvPr/>
        </p:nvSpPr>
        <p:spPr>
          <a:xfrm>
            <a:off x="7863840" y="530352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Faster vulnerability remediation</a:t>
            </a:r>
            <a:endParaRPr lang="en-US" sz="1300" dirty="0"/>
          </a:p>
        </p:txBody>
      </p:sp>
      <p:pic>
        <p:nvPicPr>
          <p:cNvPr id="22" name="Image 0" descr="preencoded.png"/>
          <p:cNvPicPr>
            <a:picLocks noChangeAspect="1"/>
          </p:cNvPicPr>
          <p:nvPr/>
        </p:nvPicPr>
        <p:blipFill>
          <a:blip r:embed="rId2"/>
          <a:stretch>
            <a:fillRect/>
          </a:stretch>
        </p:blipFill>
        <p:spPr>
          <a:xfrm>
            <a:off x="7863840" y="5943600"/>
            <a:ext cx="274320" cy="274320"/>
          </a:xfrm>
          <a:prstGeom prst="rect">
            <a:avLst/>
          </a:prstGeom>
        </p:spPr>
      </p:pic>
      <p:sp>
        <p:nvSpPr>
          <p:cNvPr id="23" name="Text 20"/>
          <p:cNvSpPr/>
          <p:nvPr/>
        </p:nvSpPr>
        <p:spPr>
          <a:xfrm>
            <a:off x="8321040" y="5943600"/>
            <a:ext cx="5029200" cy="731520"/>
          </a:xfrm>
          <a:prstGeom prst="rect">
            <a:avLst/>
          </a:prstGeom>
          <a:noFill/>
          <a:ln/>
        </p:spPr>
        <p:txBody>
          <a:bodyPr wrap="square" lIns="0" tIns="0" rIns="0" bIns="0" rtlCol="0" anchor="ctr"/>
          <a:lstStyle/>
          <a:p>
            <a:pPr marL="0" indent="0">
              <a:buNone/>
            </a:pPr>
            <a:r>
              <a:rPr lang="en-US" sz="1300" i="1" dirty="0">
                <a:solidFill>
                  <a:srgbClr val="D1D5DB"/>
                </a:solidFill>
                <a:latin typeface="Ubuntu" pitchFamily="34" charset="0"/>
                <a:ea typeface="Ubuntu" pitchFamily="34" charset="-122"/>
                <a:cs typeface="Ubuntu" pitchFamily="34" charset="-120"/>
              </a:rPr>
              <a:t>SonarQube handles code quality and AI governance while ACS secures the container lifecycle — complete coverage from first line of code to runtime.</a:t>
            </a:r>
            <a:endParaRPr lang="en-US" sz="1300" dirty="0"/>
          </a:p>
        </p:txBody>
      </p:sp>
      <p:sp>
        <p:nvSpPr>
          <p:cNvPr id="24" name="Shape 21"/>
          <p:cNvSpPr/>
          <p:nvPr/>
        </p:nvSpPr>
        <p:spPr>
          <a:xfrm>
            <a:off x="731520" y="7516368"/>
            <a:ext cx="13167360" cy="0"/>
          </a:xfrm>
          <a:prstGeom prst="line">
            <a:avLst/>
          </a:prstGeom>
          <a:noFill/>
          <a:ln w="19050">
            <a:solidFill>
              <a:srgbClr val="3B82F6"/>
            </a:solidFill>
            <a:prstDash val="solid"/>
          </a:ln>
        </p:spPr>
        <p:txBody>
          <a:bodyPr/>
          <a:lstStyle/>
          <a:p>
            <a:endParaRPr lang="en-US"/>
          </a:p>
        </p:txBody>
      </p:sp>
      <p:pic>
        <p:nvPicPr>
          <p:cNvPr id="25" name="Image 1" descr="/sessions/relaxed-confident-mccarthy/unpacked/ppt/media/image3.png"/>
          <p:cNvPicPr>
            <a:picLocks noChangeAspect="1"/>
          </p:cNvPicPr>
          <p:nvPr/>
        </p:nvPicPr>
        <p:blipFill>
          <a:blip r:embed="rId3"/>
          <a:stretch>
            <a:fillRect/>
          </a:stretch>
        </p:blipFill>
        <p:spPr>
          <a:xfrm>
            <a:off x="12893040" y="7178040"/>
            <a:ext cx="1005840" cy="502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373B48"/>
        </a:solidFill>
        <a:effectLst/>
      </p:bgPr>
    </p:bg>
    <p:spTree>
      <p:nvGrpSpPr>
        <p:cNvPr id="1" name=""/>
        <p:cNvGrpSpPr/>
        <p:nvPr/>
      </p:nvGrpSpPr>
      <p:grpSpPr>
        <a:xfrm>
          <a:off x="0" y="0"/>
          <a:ext cx="0" cy="0"/>
          <a:chOff x="0" y="0"/>
          <a:chExt cx="0" cy="0"/>
        </a:xfrm>
      </p:grpSpPr>
      <p:sp>
        <p:nvSpPr>
          <p:cNvPr id="2" name="Text 0"/>
          <p:cNvSpPr/>
          <p:nvPr/>
        </p:nvSpPr>
        <p:spPr>
          <a:xfrm>
            <a:off x="731520" y="1371600"/>
            <a:ext cx="3657600" cy="1828800"/>
          </a:xfrm>
          <a:prstGeom prst="rect">
            <a:avLst/>
          </a:prstGeom>
          <a:noFill/>
          <a:ln/>
        </p:spPr>
        <p:txBody>
          <a:bodyPr wrap="square" lIns="0" tIns="0" rIns="0" bIns="0" rtlCol="0" anchor="ctr"/>
          <a:lstStyle/>
          <a:p>
            <a:pPr marL="0" indent="0">
              <a:buNone/>
            </a:pPr>
            <a:r>
              <a:rPr lang="en-US" sz="12000" b="1" dirty="0">
                <a:solidFill>
                  <a:srgbClr val="3B82F6"/>
                </a:solidFill>
                <a:latin typeface="Ubuntu" pitchFamily="34" charset="0"/>
                <a:ea typeface="Ubuntu" pitchFamily="34" charset="-122"/>
                <a:cs typeface="Ubuntu" pitchFamily="34" charset="-120"/>
              </a:rPr>
              <a:t>02</a:t>
            </a:r>
            <a:endParaRPr lang="en-US" sz="12000" dirty="0"/>
          </a:p>
        </p:txBody>
      </p:sp>
      <p:sp>
        <p:nvSpPr>
          <p:cNvPr id="3" name="Text 1"/>
          <p:cNvSpPr/>
          <p:nvPr/>
        </p:nvSpPr>
        <p:spPr>
          <a:xfrm>
            <a:off x="731520" y="3474720"/>
            <a:ext cx="10972800" cy="1097280"/>
          </a:xfrm>
          <a:prstGeom prst="rect">
            <a:avLst/>
          </a:prstGeom>
          <a:noFill/>
          <a:ln/>
        </p:spPr>
        <p:txBody>
          <a:bodyPr wrap="square" lIns="0" tIns="0" rIns="0" bIns="0" rtlCol="0" anchor="ctr"/>
          <a:lstStyle/>
          <a:p>
            <a:pPr marL="0" indent="0">
              <a:buNone/>
            </a:pPr>
            <a:r>
              <a:rPr lang="en-US" sz="4800" b="1" dirty="0">
                <a:solidFill>
                  <a:srgbClr val="FFFFFF"/>
                </a:solidFill>
                <a:latin typeface="Ubuntu" pitchFamily="34" charset="0"/>
                <a:ea typeface="Ubuntu" pitchFamily="34" charset="-122"/>
                <a:cs typeface="Ubuntu" pitchFamily="34" charset="-120"/>
              </a:rPr>
              <a:t>Kaspersky KCS + SonarQube AI</a:t>
            </a:r>
            <a:endParaRPr lang="en-US" sz="4800" dirty="0"/>
          </a:p>
        </p:txBody>
      </p:sp>
      <p:sp>
        <p:nvSpPr>
          <p:cNvPr id="4" name="Text 2"/>
          <p:cNvSpPr/>
          <p:nvPr/>
        </p:nvSpPr>
        <p:spPr>
          <a:xfrm>
            <a:off x="731520" y="4754880"/>
            <a:ext cx="9144000" cy="731520"/>
          </a:xfrm>
          <a:prstGeom prst="rect">
            <a:avLst/>
          </a:prstGeom>
          <a:noFill/>
          <a:ln/>
        </p:spPr>
        <p:txBody>
          <a:bodyPr wrap="square" lIns="0" tIns="0" rIns="0" bIns="0" rtlCol="0" anchor="ctr"/>
          <a:lstStyle/>
          <a:p>
            <a:pPr marL="0" indent="0">
              <a:buNone/>
            </a:pPr>
            <a:r>
              <a:rPr lang="en-US" sz="2000" dirty="0">
                <a:solidFill>
                  <a:srgbClr val="9CA3AF"/>
                </a:solidFill>
                <a:latin typeface="Ubuntu" pitchFamily="34" charset="0"/>
                <a:ea typeface="Ubuntu" pitchFamily="34" charset="-122"/>
                <a:cs typeface="Ubuntu" pitchFamily="34" charset="-120"/>
              </a:rPr>
              <a:t>ML-powered container security with Astraea engine, AI code analysis, and zero-day malware detection</a:t>
            </a:r>
            <a:endParaRPr lang="en-US" sz="2000" dirty="0"/>
          </a:p>
        </p:txBody>
      </p:sp>
      <p:sp>
        <p:nvSpPr>
          <p:cNvPr id="5" name="Shape 3"/>
          <p:cNvSpPr/>
          <p:nvPr/>
        </p:nvSpPr>
        <p:spPr>
          <a:xfrm>
            <a:off x="731520" y="7516368"/>
            <a:ext cx="13167360" cy="0"/>
          </a:xfrm>
          <a:prstGeom prst="line">
            <a:avLst/>
          </a:prstGeom>
          <a:noFill/>
          <a:ln w="25400">
            <a:solidFill>
              <a:srgbClr val="3B82F6"/>
            </a:solidFill>
            <a:prstDash val="solid"/>
          </a:ln>
        </p:spPr>
        <p:txBody>
          <a:bodyPr/>
          <a:lstStyle/>
          <a:p>
            <a:endParaRPr lang="en-US"/>
          </a:p>
        </p:txBody>
      </p:sp>
      <p:pic>
        <p:nvPicPr>
          <p:cNvPr id="6" name="Image 0" descr="/sessions/relaxed-confident-mccarthy/unpacked/ppt/media/image3.png"/>
          <p:cNvPicPr>
            <a:picLocks noChangeAspect="1"/>
          </p:cNvPicPr>
          <p:nvPr/>
        </p:nvPicPr>
        <p:blipFill>
          <a:blip r:embed="rId2"/>
          <a:stretch>
            <a:fillRect/>
          </a:stretch>
        </p:blipFill>
        <p:spPr>
          <a:xfrm>
            <a:off x="12893040" y="7178040"/>
            <a:ext cx="100584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11887200" cy="640080"/>
          </a:xfrm>
          <a:prstGeom prst="rect">
            <a:avLst/>
          </a:prstGeom>
          <a:noFill/>
          <a:ln/>
        </p:spPr>
        <p:txBody>
          <a:bodyPr wrap="square" lIns="0" tIns="0" rIns="0" bIns="0" rtlCol="0" anchor="ctr"/>
          <a:lstStyle/>
          <a:p>
            <a:pPr marL="0" indent="0">
              <a:buNone/>
            </a:pPr>
            <a:r>
              <a:rPr lang="en-US" sz="3900" b="1" dirty="0">
                <a:solidFill>
                  <a:srgbClr val="373B48"/>
                </a:solidFill>
                <a:latin typeface="Ubuntu" pitchFamily="34" charset="0"/>
                <a:ea typeface="Ubuntu" pitchFamily="34" charset="-122"/>
                <a:cs typeface="Ubuntu" pitchFamily="34" charset="-120"/>
              </a:rPr>
              <a:t>Use Case 2</a:t>
            </a:r>
            <a:endParaRPr lang="en-US" sz="3900" dirty="0"/>
          </a:p>
        </p:txBody>
      </p:sp>
      <p:sp>
        <p:nvSpPr>
          <p:cNvPr id="3" name="Text 1"/>
          <p:cNvSpPr/>
          <p:nvPr/>
        </p:nvSpPr>
        <p:spPr>
          <a:xfrm>
            <a:off x="731520" y="1234440"/>
            <a:ext cx="11887200" cy="457200"/>
          </a:xfrm>
          <a:prstGeom prst="rect">
            <a:avLst/>
          </a:prstGeom>
          <a:noFill/>
          <a:ln/>
        </p:spPr>
        <p:txBody>
          <a:bodyPr wrap="square" lIns="0" tIns="0" rIns="0" bIns="0" rtlCol="0" anchor="ctr"/>
          <a:lstStyle/>
          <a:p>
            <a:pPr marL="0" indent="0">
              <a:buNone/>
            </a:pPr>
            <a:r>
              <a:rPr lang="en-US" sz="1800" dirty="0">
                <a:solidFill>
                  <a:srgbClr val="52586B"/>
                </a:solidFill>
                <a:latin typeface="Ubuntu" pitchFamily="34" charset="0"/>
                <a:ea typeface="Ubuntu" pitchFamily="34" charset="-122"/>
                <a:cs typeface="Ubuntu" pitchFamily="34" charset="-120"/>
              </a:rPr>
              <a:t>Kaspersky KCS + SonarQube AI Pipeline</a:t>
            </a:r>
            <a:endParaRPr lang="en-US" sz="1800" dirty="0"/>
          </a:p>
        </p:txBody>
      </p:sp>
      <p:sp>
        <p:nvSpPr>
          <p:cNvPr id="4" name="Shape 2"/>
          <p:cNvSpPr/>
          <p:nvPr/>
        </p:nvSpPr>
        <p:spPr>
          <a:xfrm>
            <a:off x="731520" y="1920240"/>
            <a:ext cx="6400800" cy="2377440"/>
          </a:xfrm>
          <a:prstGeom prst="rect">
            <a:avLst/>
          </a:prstGeom>
          <a:solidFill>
            <a:srgbClr val="F8F9FC"/>
          </a:solidFill>
          <a:ln w="12700">
            <a:solidFill>
              <a:srgbClr val="E2E5EE"/>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731520" y="1920240"/>
            <a:ext cx="54864" cy="2377440"/>
          </a:xfrm>
          <a:prstGeom prst="rect">
            <a:avLst/>
          </a:prstGeom>
          <a:solidFill>
            <a:srgbClr val="EE0000"/>
          </a:solidFill>
          <a:ln/>
        </p:spPr>
        <p:txBody>
          <a:bodyPr/>
          <a:lstStyle/>
          <a:p>
            <a:endParaRPr lang="en-US"/>
          </a:p>
        </p:txBody>
      </p:sp>
      <p:sp>
        <p:nvSpPr>
          <p:cNvPr id="6" name="Text 4"/>
          <p:cNvSpPr/>
          <p:nvPr/>
        </p:nvSpPr>
        <p:spPr>
          <a:xfrm>
            <a:off x="1051560" y="2057400"/>
            <a:ext cx="5852160" cy="365760"/>
          </a:xfrm>
          <a:prstGeom prst="rect">
            <a:avLst/>
          </a:prstGeom>
          <a:noFill/>
          <a:ln/>
        </p:spPr>
        <p:txBody>
          <a:bodyPr wrap="square" lIns="0" tIns="0" rIns="0" bIns="0" rtlCol="0" anchor="ctr"/>
          <a:lstStyle/>
          <a:p>
            <a:pPr marL="0" indent="0">
              <a:buNone/>
            </a:pPr>
            <a:r>
              <a:rPr lang="en-US" sz="1800" b="1" dirty="0">
                <a:solidFill>
                  <a:srgbClr val="373B48"/>
                </a:solidFill>
                <a:latin typeface="Ubuntu" pitchFamily="34" charset="0"/>
                <a:ea typeface="Ubuntu" pitchFamily="34" charset="-122"/>
                <a:cs typeface="Ubuntu" pitchFamily="34" charset="-120"/>
              </a:rPr>
              <a:t>The Challenge</a:t>
            </a:r>
            <a:endParaRPr lang="en-US" sz="1800" dirty="0"/>
          </a:p>
        </p:txBody>
      </p:sp>
      <p:sp>
        <p:nvSpPr>
          <p:cNvPr id="7" name="Text 5"/>
          <p:cNvSpPr/>
          <p:nvPr/>
        </p:nvSpPr>
        <p:spPr>
          <a:xfrm>
            <a:off x="1051560" y="2514600"/>
            <a:ext cx="5852160" cy="155448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Container workloads face sophisticated supply-chain attacks and zero-day malware that signature-based scanners miss. Organizations need ML-powered behavioral analysis combined with deep code quality gates to catch threats before they reach production.</a:t>
            </a:r>
            <a:endParaRPr lang="en-US" sz="1400" dirty="0"/>
          </a:p>
        </p:txBody>
      </p:sp>
      <p:sp>
        <p:nvSpPr>
          <p:cNvPr id="8" name="Shape 6"/>
          <p:cNvSpPr/>
          <p:nvPr/>
        </p:nvSpPr>
        <p:spPr>
          <a:xfrm>
            <a:off x="731520" y="4572000"/>
            <a:ext cx="6400800" cy="2377440"/>
          </a:xfrm>
          <a:prstGeom prst="rect">
            <a:avLst/>
          </a:prstGeom>
          <a:solidFill>
            <a:srgbClr val="F8F9FC"/>
          </a:solidFill>
          <a:ln w="12700">
            <a:solidFill>
              <a:srgbClr val="E2E5EE"/>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731520" y="4572000"/>
            <a:ext cx="54864" cy="2377440"/>
          </a:xfrm>
          <a:prstGeom prst="rect">
            <a:avLst/>
          </a:prstGeom>
          <a:solidFill>
            <a:srgbClr val="10B981"/>
          </a:solidFill>
          <a:ln/>
        </p:spPr>
        <p:txBody>
          <a:bodyPr/>
          <a:lstStyle/>
          <a:p>
            <a:endParaRPr lang="en-US"/>
          </a:p>
        </p:txBody>
      </p:sp>
      <p:sp>
        <p:nvSpPr>
          <p:cNvPr id="10" name="Text 8"/>
          <p:cNvSpPr/>
          <p:nvPr/>
        </p:nvSpPr>
        <p:spPr>
          <a:xfrm>
            <a:off x="1051560" y="4709160"/>
            <a:ext cx="5852160" cy="365760"/>
          </a:xfrm>
          <a:prstGeom prst="rect">
            <a:avLst/>
          </a:prstGeom>
          <a:noFill/>
          <a:ln/>
        </p:spPr>
        <p:txBody>
          <a:bodyPr wrap="square" lIns="0" tIns="0" rIns="0" bIns="0" rtlCol="0" anchor="ctr"/>
          <a:lstStyle/>
          <a:p>
            <a:pPr marL="0" indent="0">
              <a:buNone/>
            </a:pPr>
            <a:r>
              <a:rPr lang="en-US" sz="1800" b="1" dirty="0">
                <a:solidFill>
                  <a:srgbClr val="373B48"/>
                </a:solidFill>
                <a:latin typeface="Ubuntu" pitchFamily="34" charset="0"/>
                <a:ea typeface="Ubuntu" pitchFamily="34" charset="-122"/>
                <a:cs typeface="Ubuntu" pitchFamily="34" charset="-120"/>
              </a:rPr>
              <a:t>The Solution</a:t>
            </a:r>
            <a:endParaRPr lang="en-US" sz="1800" dirty="0"/>
          </a:p>
        </p:txBody>
      </p:sp>
      <p:sp>
        <p:nvSpPr>
          <p:cNvPr id="11" name="Text 9"/>
          <p:cNvSpPr/>
          <p:nvPr/>
        </p:nvSpPr>
        <p:spPr>
          <a:xfrm>
            <a:off x="1051560" y="5166360"/>
            <a:ext cx="5852160" cy="155448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SonarQube AI delivers deep SAST analysis, AI CodeFix, and AI Code Assurance. Kaspersky KCS adds Astraea ML engine for zero-day malware detection, behavioral runtime monitoring, threat intelligence enrichment, and admission control for Kubernetes environments.</a:t>
            </a:r>
            <a:endParaRPr lang="en-US" sz="1400" dirty="0"/>
          </a:p>
        </p:txBody>
      </p:sp>
      <p:sp>
        <p:nvSpPr>
          <p:cNvPr id="12" name="Shape 10"/>
          <p:cNvSpPr/>
          <p:nvPr/>
        </p:nvSpPr>
        <p:spPr>
          <a:xfrm>
            <a:off x="7498080" y="1920240"/>
            <a:ext cx="6217920" cy="5029200"/>
          </a:xfrm>
          <a:prstGeom prst="rect">
            <a:avLst/>
          </a:prstGeom>
          <a:solidFill>
            <a:srgbClr val="373B48"/>
          </a:solidFill>
          <a:ln/>
          <a:effectLst>
            <a:outerShdw blurRad="76200" dist="25400" dir="8100000" algn="bl" rotWithShape="0">
              <a:srgbClr val="000000">
                <a:alpha val="8000"/>
              </a:srgbClr>
            </a:outerShdw>
          </a:effectLst>
        </p:spPr>
        <p:txBody>
          <a:bodyPr/>
          <a:lstStyle/>
          <a:p>
            <a:endParaRPr lang="en-US"/>
          </a:p>
        </p:txBody>
      </p:sp>
      <p:sp>
        <p:nvSpPr>
          <p:cNvPr id="13" name="Text 11"/>
          <p:cNvSpPr/>
          <p:nvPr/>
        </p:nvSpPr>
        <p:spPr>
          <a:xfrm>
            <a:off x="7863840" y="2148840"/>
            <a:ext cx="5486400" cy="457200"/>
          </a:xfrm>
          <a:prstGeom prst="rect">
            <a:avLst/>
          </a:prstGeom>
          <a:noFill/>
          <a:ln/>
        </p:spPr>
        <p:txBody>
          <a:bodyPr wrap="square" lIns="0" tIns="0" rIns="0" bIns="0" rtlCol="0" anchor="ctr"/>
          <a:lstStyle/>
          <a:p>
            <a:pPr marL="0" indent="0">
              <a:buNone/>
            </a:pPr>
            <a:r>
              <a:rPr lang="en-US" sz="2200" b="1" dirty="0">
                <a:solidFill>
                  <a:srgbClr val="FFFFFF"/>
                </a:solidFill>
                <a:latin typeface="Ubuntu" pitchFamily="34" charset="0"/>
                <a:ea typeface="Ubuntu" pitchFamily="34" charset="-122"/>
                <a:cs typeface="Ubuntu" pitchFamily="34" charset="-120"/>
              </a:rPr>
              <a:t>Results</a:t>
            </a:r>
            <a:endParaRPr lang="en-US" sz="2200" dirty="0"/>
          </a:p>
        </p:txBody>
      </p:sp>
      <p:sp>
        <p:nvSpPr>
          <p:cNvPr id="14" name="Text 12"/>
          <p:cNvSpPr/>
          <p:nvPr/>
        </p:nvSpPr>
        <p:spPr>
          <a:xfrm>
            <a:off x="7863840" y="274320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7</a:t>
            </a:r>
            <a:endParaRPr lang="en-US" sz="3600" dirty="0"/>
          </a:p>
        </p:txBody>
      </p:sp>
      <p:sp>
        <p:nvSpPr>
          <p:cNvPr id="15" name="Text 13"/>
          <p:cNvSpPr/>
          <p:nvPr/>
        </p:nvSpPr>
        <p:spPr>
          <a:xfrm>
            <a:off x="7863840" y="320040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Pipeline stages with dual AI engines</a:t>
            </a:r>
            <a:endParaRPr lang="en-US" sz="1300" dirty="0"/>
          </a:p>
        </p:txBody>
      </p:sp>
      <p:sp>
        <p:nvSpPr>
          <p:cNvPr id="16" name="Shape 14"/>
          <p:cNvSpPr/>
          <p:nvPr/>
        </p:nvSpPr>
        <p:spPr>
          <a:xfrm>
            <a:off x="7863840" y="3611880"/>
            <a:ext cx="5303520" cy="0"/>
          </a:xfrm>
          <a:prstGeom prst="line">
            <a:avLst/>
          </a:prstGeom>
          <a:noFill/>
          <a:ln w="6350">
            <a:solidFill>
              <a:srgbClr val="4B5563"/>
            </a:solidFill>
            <a:prstDash val="solid"/>
          </a:ln>
        </p:spPr>
        <p:txBody>
          <a:bodyPr/>
          <a:lstStyle/>
          <a:p>
            <a:endParaRPr lang="en-US"/>
          </a:p>
        </p:txBody>
      </p:sp>
      <p:sp>
        <p:nvSpPr>
          <p:cNvPr id="17" name="Text 15"/>
          <p:cNvSpPr/>
          <p:nvPr/>
        </p:nvSpPr>
        <p:spPr>
          <a:xfrm>
            <a:off x="7863840" y="379476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6</a:t>
            </a:r>
            <a:endParaRPr lang="en-US" sz="3600" dirty="0"/>
          </a:p>
        </p:txBody>
      </p:sp>
      <p:sp>
        <p:nvSpPr>
          <p:cNvPr id="18" name="Text 16"/>
          <p:cNvSpPr/>
          <p:nvPr/>
        </p:nvSpPr>
        <p:spPr>
          <a:xfrm>
            <a:off x="7863840" y="425196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AI + ML security checkpoints</a:t>
            </a:r>
            <a:endParaRPr lang="en-US" sz="1300" dirty="0"/>
          </a:p>
        </p:txBody>
      </p:sp>
      <p:sp>
        <p:nvSpPr>
          <p:cNvPr id="19" name="Shape 17"/>
          <p:cNvSpPr/>
          <p:nvPr/>
        </p:nvSpPr>
        <p:spPr>
          <a:xfrm>
            <a:off x="7863840" y="4663440"/>
            <a:ext cx="5303520" cy="0"/>
          </a:xfrm>
          <a:prstGeom prst="line">
            <a:avLst/>
          </a:prstGeom>
          <a:noFill/>
          <a:ln w="6350">
            <a:solidFill>
              <a:srgbClr val="4B5563"/>
            </a:solidFill>
            <a:prstDash val="solid"/>
          </a:ln>
        </p:spPr>
        <p:txBody>
          <a:bodyPr/>
          <a:lstStyle/>
          <a:p>
            <a:endParaRPr lang="en-US"/>
          </a:p>
        </p:txBody>
      </p:sp>
      <p:sp>
        <p:nvSpPr>
          <p:cNvPr id="20" name="Text 18"/>
          <p:cNvSpPr/>
          <p:nvPr/>
        </p:nvSpPr>
        <p:spPr>
          <a:xfrm>
            <a:off x="7863840" y="484632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99.5%</a:t>
            </a:r>
            <a:endParaRPr lang="en-US" sz="3600" dirty="0"/>
          </a:p>
        </p:txBody>
      </p:sp>
      <p:sp>
        <p:nvSpPr>
          <p:cNvPr id="21" name="Text 19"/>
          <p:cNvSpPr/>
          <p:nvPr/>
        </p:nvSpPr>
        <p:spPr>
          <a:xfrm>
            <a:off x="7863840" y="530352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Malware detection rate </a:t>
            </a:r>
            <a:endParaRPr lang="en-US" sz="1300" dirty="0"/>
          </a:p>
        </p:txBody>
      </p:sp>
      <p:pic>
        <p:nvPicPr>
          <p:cNvPr id="22" name="Image 0" descr="preencoded.png"/>
          <p:cNvPicPr>
            <a:picLocks noChangeAspect="1"/>
          </p:cNvPicPr>
          <p:nvPr/>
        </p:nvPicPr>
        <p:blipFill>
          <a:blip r:embed="rId2"/>
          <a:stretch>
            <a:fillRect/>
          </a:stretch>
        </p:blipFill>
        <p:spPr>
          <a:xfrm>
            <a:off x="7863840" y="5943600"/>
            <a:ext cx="274320" cy="274320"/>
          </a:xfrm>
          <a:prstGeom prst="rect">
            <a:avLst/>
          </a:prstGeom>
        </p:spPr>
      </p:pic>
      <p:sp>
        <p:nvSpPr>
          <p:cNvPr id="23" name="Text 20"/>
          <p:cNvSpPr/>
          <p:nvPr/>
        </p:nvSpPr>
        <p:spPr>
          <a:xfrm>
            <a:off x="8321040" y="5943600"/>
            <a:ext cx="5029200" cy="731520"/>
          </a:xfrm>
          <a:prstGeom prst="rect">
            <a:avLst/>
          </a:prstGeom>
          <a:noFill/>
          <a:ln/>
        </p:spPr>
        <p:txBody>
          <a:bodyPr wrap="square" lIns="0" tIns="0" rIns="0" bIns="0" rtlCol="0" anchor="ctr"/>
          <a:lstStyle/>
          <a:p>
            <a:pPr marL="0" indent="0">
              <a:buNone/>
            </a:pPr>
            <a:r>
              <a:rPr lang="en-US" sz="1300" i="1" dirty="0">
                <a:solidFill>
                  <a:srgbClr val="D1D5DB"/>
                </a:solidFill>
                <a:latin typeface="Ubuntu" pitchFamily="34" charset="0"/>
                <a:ea typeface="Ubuntu" pitchFamily="34" charset="-122"/>
                <a:cs typeface="Ubuntu" pitchFamily="34" charset="-120"/>
              </a:rPr>
              <a:t>SonarQube AI governs code quality while Astraea ML catches what signatures miss — dual AI engines protecting the entire pipeline.</a:t>
            </a:r>
            <a:endParaRPr lang="en-US" sz="1300" dirty="0"/>
          </a:p>
        </p:txBody>
      </p:sp>
      <p:sp>
        <p:nvSpPr>
          <p:cNvPr id="24" name="Shape 21"/>
          <p:cNvSpPr/>
          <p:nvPr/>
        </p:nvSpPr>
        <p:spPr>
          <a:xfrm>
            <a:off x="731520" y="7516368"/>
            <a:ext cx="13167360" cy="0"/>
          </a:xfrm>
          <a:prstGeom prst="line">
            <a:avLst/>
          </a:prstGeom>
          <a:noFill/>
          <a:ln w="19050">
            <a:solidFill>
              <a:srgbClr val="3B82F6"/>
            </a:solidFill>
            <a:prstDash val="solid"/>
          </a:ln>
        </p:spPr>
        <p:txBody>
          <a:bodyPr/>
          <a:lstStyle/>
          <a:p>
            <a:endParaRPr lang="en-US"/>
          </a:p>
        </p:txBody>
      </p:sp>
      <p:pic>
        <p:nvPicPr>
          <p:cNvPr id="25" name="Image 1" descr="/sessions/relaxed-confident-mccarthy/unpacked/ppt/media/image3.png"/>
          <p:cNvPicPr>
            <a:picLocks noChangeAspect="1"/>
          </p:cNvPicPr>
          <p:nvPr/>
        </p:nvPicPr>
        <p:blipFill>
          <a:blip r:embed="rId3"/>
          <a:stretch>
            <a:fillRect/>
          </a:stretch>
        </p:blipFill>
        <p:spPr>
          <a:xfrm>
            <a:off x="12893040" y="7178040"/>
            <a:ext cx="1005840" cy="502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373B48"/>
        </a:solidFill>
        <a:effectLst/>
      </p:bgPr>
    </p:bg>
    <p:spTree>
      <p:nvGrpSpPr>
        <p:cNvPr id="1" name=""/>
        <p:cNvGrpSpPr/>
        <p:nvPr/>
      </p:nvGrpSpPr>
      <p:grpSpPr>
        <a:xfrm>
          <a:off x="0" y="0"/>
          <a:ext cx="0" cy="0"/>
          <a:chOff x="0" y="0"/>
          <a:chExt cx="0" cy="0"/>
        </a:xfrm>
      </p:grpSpPr>
      <p:sp>
        <p:nvSpPr>
          <p:cNvPr id="2" name="Text 0"/>
          <p:cNvSpPr/>
          <p:nvPr/>
        </p:nvSpPr>
        <p:spPr>
          <a:xfrm>
            <a:off x="731520" y="1371600"/>
            <a:ext cx="3657600" cy="1828800"/>
          </a:xfrm>
          <a:prstGeom prst="rect">
            <a:avLst/>
          </a:prstGeom>
          <a:noFill/>
          <a:ln/>
        </p:spPr>
        <p:txBody>
          <a:bodyPr wrap="square" lIns="0" tIns="0" rIns="0" bIns="0" rtlCol="0" anchor="ctr"/>
          <a:lstStyle/>
          <a:p>
            <a:pPr marL="0" indent="0">
              <a:buNone/>
            </a:pPr>
            <a:r>
              <a:rPr lang="en-US" sz="12000" b="1" dirty="0">
                <a:solidFill>
                  <a:srgbClr val="3B82F6"/>
                </a:solidFill>
                <a:latin typeface="Ubuntu" pitchFamily="34" charset="0"/>
                <a:ea typeface="Ubuntu" pitchFamily="34" charset="-122"/>
                <a:cs typeface="Ubuntu" pitchFamily="34" charset="-120"/>
              </a:rPr>
              <a:t>03</a:t>
            </a:r>
            <a:endParaRPr lang="en-US" sz="12000" dirty="0"/>
          </a:p>
        </p:txBody>
      </p:sp>
      <p:sp>
        <p:nvSpPr>
          <p:cNvPr id="3" name="Text 1"/>
          <p:cNvSpPr/>
          <p:nvPr/>
        </p:nvSpPr>
        <p:spPr>
          <a:xfrm>
            <a:off x="731520" y="3474720"/>
            <a:ext cx="10972800" cy="1097280"/>
          </a:xfrm>
          <a:prstGeom prst="rect">
            <a:avLst/>
          </a:prstGeom>
          <a:noFill/>
          <a:ln/>
        </p:spPr>
        <p:txBody>
          <a:bodyPr wrap="square" lIns="0" tIns="0" rIns="0" bIns="0" rtlCol="0" anchor="ctr"/>
          <a:lstStyle/>
          <a:p>
            <a:pPr marL="0" indent="0">
              <a:buNone/>
            </a:pPr>
            <a:r>
              <a:rPr lang="en-US" sz="4800" b="1" dirty="0">
                <a:solidFill>
                  <a:srgbClr val="FFFFFF"/>
                </a:solidFill>
                <a:latin typeface="Ubuntu" pitchFamily="34" charset="0"/>
                <a:ea typeface="Ubuntu" pitchFamily="34" charset="-122"/>
                <a:cs typeface="Ubuntu" pitchFamily="34" charset="-120"/>
              </a:rPr>
              <a:t>Prisma Cloud + SonarQube AI</a:t>
            </a:r>
            <a:endParaRPr lang="en-US" sz="4800" dirty="0"/>
          </a:p>
        </p:txBody>
      </p:sp>
      <p:sp>
        <p:nvSpPr>
          <p:cNvPr id="4" name="Text 2"/>
          <p:cNvSpPr/>
          <p:nvPr/>
        </p:nvSpPr>
        <p:spPr>
          <a:xfrm>
            <a:off x="731520" y="4754880"/>
            <a:ext cx="9144000" cy="731520"/>
          </a:xfrm>
          <a:prstGeom prst="rect">
            <a:avLst/>
          </a:prstGeom>
          <a:noFill/>
          <a:ln/>
        </p:spPr>
        <p:txBody>
          <a:bodyPr wrap="square" lIns="0" tIns="0" rIns="0" bIns="0" rtlCol="0" anchor="ctr"/>
          <a:lstStyle/>
          <a:p>
            <a:pPr marL="0" indent="0">
              <a:buNone/>
            </a:pPr>
            <a:r>
              <a:rPr lang="en-US" sz="2000" dirty="0">
                <a:solidFill>
                  <a:srgbClr val="9CA3AF"/>
                </a:solidFill>
                <a:latin typeface="Ubuntu" pitchFamily="34" charset="0"/>
                <a:ea typeface="Ubuntu" pitchFamily="34" charset="-122"/>
                <a:cs typeface="Ubuntu" pitchFamily="34" charset="-120"/>
              </a:rPr>
              <a:t>Full CNAPP platform with code-to-cloud security, Precision AI attack-path analysis, and AI code governance</a:t>
            </a:r>
            <a:endParaRPr lang="en-US" sz="2000" dirty="0"/>
          </a:p>
        </p:txBody>
      </p:sp>
      <p:sp>
        <p:nvSpPr>
          <p:cNvPr id="5" name="Shape 3"/>
          <p:cNvSpPr/>
          <p:nvPr/>
        </p:nvSpPr>
        <p:spPr>
          <a:xfrm>
            <a:off x="731520" y="7516368"/>
            <a:ext cx="13167360" cy="0"/>
          </a:xfrm>
          <a:prstGeom prst="line">
            <a:avLst/>
          </a:prstGeom>
          <a:noFill/>
          <a:ln w="25400">
            <a:solidFill>
              <a:srgbClr val="3B82F6"/>
            </a:solidFill>
            <a:prstDash val="solid"/>
          </a:ln>
        </p:spPr>
        <p:txBody>
          <a:bodyPr/>
          <a:lstStyle/>
          <a:p>
            <a:endParaRPr lang="en-US"/>
          </a:p>
        </p:txBody>
      </p:sp>
      <p:pic>
        <p:nvPicPr>
          <p:cNvPr id="6" name="Image 0" descr="/sessions/relaxed-confident-mccarthy/unpacked/ppt/media/image3.png"/>
          <p:cNvPicPr>
            <a:picLocks noChangeAspect="1"/>
          </p:cNvPicPr>
          <p:nvPr/>
        </p:nvPicPr>
        <p:blipFill>
          <a:blip r:embed="rId2"/>
          <a:stretch>
            <a:fillRect/>
          </a:stretch>
        </p:blipFill>
        <p:spPr>
          <a:xfrm>
            <a:off x="12893040" y="7178040"/>
            <a:ext cx="1005840" cy="502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11887200" cy="640080"/>
          </a:xfrm>
          <a:prstGeom prst="rect">
            <a:avLst/>
          </a:prstGeom>
          <a:noFill/>
          <a:ln/>
        </p:spPr>
        <p:txBody>
          <a:bodyPr wrap="square" lIns="0" tIns="0" rIns="0" bIns="0" rtlCol="0" anchor="ctr"/>
          <a:lstStyle/>
          <a:p>
            <a:pPr marL="0" indent="0">
              <a:buNone/>
            </a:pPr>
            <a:r>
              <a:rPr lang="en-US" sz="3900" b="1" dirty="0">
                <a:solidFill>
                  <a:srgbClr val="373B48"/>
                </a:solidFill>
                <a:latin typeface="Ubuntu" pitchFamily="34" charset="0"/>
                <a:ea typeface="Ubuntu" pitchFamily="34" charset="-122"/>
                <a:cs typeface="Ubuntu" pitchFamily="34" charset="-120"/>
              </a:rPr>
              <a:t>Use Case 3</a:t>
            </a:r>
            <a:endParaRPr lang="en-US" sz="3900" dirty="0"/>
          </a:p>
        </p:txBody>
      </p:sp>
      <p:sp>
        <p:nvSpPr>
          <p:cNvPr id="3" name="Text 1"/>
          <p:cNvSpPr/>
          <p:nvPr/>
        </p:nvSpPr>
        <p:spPr>
          <a:xfrm>
            <a:off x="731520" y="1234440"/>
            <a:ext cx="11887200" cy="457200"/>
          </a:xfrm>
          <a:prstGeom prst="rect">
            <a:avLst/>
          </a:prstGeom>
          <a:noFill/>
          <a:ln/>
        </p:spPr>
        <p:txBody>
          <a:bodyPr wrap="square" lIns="0" tIns="0" rIns="0" bIns="0" rtlCol="0" anchor="ctr"/>
          <a:lstStyle/>
          <a:p>
            <a:pPr marL="0" indent="0">
              <a:buNone/>
            </a:pPr>
            <a:r>
              <a:rPr lang="en-US" sz="1800" dirty="0">
                <a:solidFill>
                  <a:srgbClr val="52586B"/>
                </a:solidFill>
                <a:latin typeface="Ubuntu" pitchFamily="34" charset="0"/>
                <a:ea typeface="Ubuntu" pitchFamily="34" charset="-122"/>
                <a:cs typeface="Ubuntu" pitchFamily="34" charset="-120"/>
              </a:rPr>
              <a:t>Prisma Cloud + SonarQube AI Pipeline</a:t>
            </a:r>
            <a:endParaRPr lang="en-US" sz="1800" dirty="0"/>
          </a:p>
        </p:txBody>
      </p:sp>
      <p:sp>
        <p:nvSpPr>
          <p:cNvPr id="4" name="Shape 2"/>
          <p:cNvSpPr/>
          <p:nvPr/>
        </p:nvSpPr>
        <p:spPr>
          <a:xfrm>
            <a:off x="731520" y="1920240"/>
            <a:ext cx="6400800" cy="2377440"/>
          </a:xfrm>
          <a:prstGeom prst="rect">
            <a:avLst/>
          </a:prstGeom>
          <a:solidFill>
            <a:srgbClr val="F8F9FC"/>
          </a:solidFill>
          <a:ln w="12700">
            <a:solidFill>
              <a:srgbClr val="E2E5EE"/>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731520" y="1920240"/>
            <a:ext cx="54864" cy="2377440"/>
          </a:xfrm>
          <a:prstGeom prst="rect">
            <a:avLst/>
          </a:prstGeom>
          <a:solidFill>
            <a:srgbClr val="EE0000"/>
          </a:solidFill>
          <a:ln/>
        </p:spPr>
        <p:txBody>
          <a:bodyPr/>
          <a:lstStyle/>
          <a:p>
            <a:endParaRPr lang="en-US"/>
          </a:p>
        </p:txBody>
      </p:sp>
      <p:sp>
        <p:nvSpPr>
          <p:cNvPr id="6" name="Text 4"/>
          <p:cNvSpPr/>
          <p:nvPr/>
        </p:nvSpPr>
        <p:spPr>
          <a:xfrm>
            <a:off x="1051560" y="2057400"/>
            <a:ext cx="5852160" cy="365760"/>
          </a:xfrm>
          <a:prstGeom prst="rect">
            <a:avLst/>
          </a:prstGeom>
          <a:noFill/>
          <a:ln/>
        </p:spPr>
        <p:txBody>
          <a:bodyPr wrap="square" lIns="0" tIns="0" rIns="0" bIns="0" rtlCol="0" anchor="ctr"/>
          <a:lstStyle/>
          <a:p>
            <a:pPr marL="0" indent="0">
              <a:buNone/>
            </a:pPr>
            <a:r>
              <a:rPr lang="en-US" sz="1800" b="1" dirty="0">
                <a:solidFill>
                  <a:srgbClr val="373B48"/>
                </a:solidFill>
                <a:latin typeface="Ubuntu" pitchFamily="34" charset="0"/>
                <a:ea typeface="Ubuntu" pitchFamily="34" charset="-122"/>
                <a:cs typeface="Ubuntu" pitchFamily="34" charset="-120"/>
              </a:rPr>
              <a:t>The Challenge</a:t>
            </a:r>
            <a:endParaRPr lang="en-US" sz="1800" dirty="0"/>
          </a:p>
        </p:txBody>
      </p:sp>
      <p:sp>
        <p:nvSpPr>
          <p:cNvPr id="7" name="Text 5"/>
          <p:cNvSpPr/>
          <p:nvPr/>
        </p:nvSpPr>
        <p:spPr>
          <a:xfrm>
            <a:off x="1051560" y="2514600"/>
            <a:ext cx="5852160" cy="155448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Multi-cloud environments create sprawling attack surfaces spanning code, containers, cloud infrastructure, IAM, and runtime. Point tools generate thousands of unconnected alerts with no way to prioritize by actual exploitability or attack path.</a:t>
            </a:r>
            <a:endParaRPr lang="en-US" sz="1400" dirty="0"/>
          </a:p>
        </p:txBody>
      </p:sp>
      <p:sp>
        <p:nvSpPr>
          <p:cNvPr id="8" name="Shape 6"/>
          <p:cNvSpPr/>
          <p:nvPr/>
        </p:nvSpPr>
        <p:spPr>
          <a:xfrm>
            <a:off x="731520" y="4572000"/>
            <a:ext cx="6400800" cy="2377440"/>
          </a:xfrm>
          <a:prstGeom prst="rect">
            <a:avLst/>
          </a:prstGeom>
          <a:solidFill>
            <a:srgbClr val="F8F9FC"/>
          </a:solidFill>
          <a:ln w="12700">
            <a:solidFill>
              <a:srgbClr val="E2E5EE"/>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731520" y="4572000"/>
            <a:ext cx="54864" cy="2377440"/>
          </a:xfrm>
          <a:prstGeom prst="rect">
            <a:avLst/>
          </a:prstGeom>
          <a:solidFill>
            <a:srgbClr val="10B981"/>
          </a:solidFill>
          <a:ln/>
        </p:spPr>
        <p:txBody>
          <a:bodyPr/>
          <a:lstStyle/>
          <a:p>
            <a:endParaRPr lang="en-US"/>
          </a:p>
        </p:txBody>
      </p:sp>
      <p:sp>
        <p:nvSpPr>
          <p:cNvPr id="10" name="Text 8"/>
          <p:cNvSpPr/>
          <p:nvPr/>
        </p:nvSpPr>
        <p:spPr>
          <a:xfrm>
            <a:off x="1051560" y="4709160"/>
            <a:ext cx="5852160" cy="365760"/>
          </a:xfrm>
          <a:prstGeom prst="rect">
            <a:avLst/>
          </a:prstGeom>
          <a:noFill/>
          <a:ln/>
        </p:spPr>
        <p:txBody>
          <a:bodyPr wrap="square" lIns="0" tIns="0" rIns="0" bIns="0" rtlCol="0" anchor="ctr"/>
          <a:lstStyle/>
          <a:p>
            <a:pPr marL="0" indent="0">
              <a:buNone/>
            </a:pPr>
            <a:r>
              <a:rPr lang="en-US" sz="1800" b="1" dirty="0">
                <a:solidFill>
                  <a:srgbClr val="373B48"/>
                </a:solidFill>
                <a:latin typeface="Ubuntu" pitchFamily="34" charset="0"/>
                <a:ea typeface="Ubuntu" pitchFamily="34" charset="-122"/>
                <a:cs typeface="Ubuntu" pitchFamily="34" charset="-120"/>
              </a:rPr>
              <a:t>The Solution</a:t>
            </a:r>
            <a:endParaRPr lang="en-US" sz="1800" dirty="0"/>
          </a:p>
        </p:txBody>
      </p:sp>
      <p:sp>
        <p:nvSpPr>
          <p:cNvPr id="11" name="Text 9"/>
          <p:cNvSpPr/>
          <p:nvPr/>
        </p:nvSpPr>
        <p:spPr>
          <a:xfrm>
            <a:off x="1051560" y="5166360"/>
            <a:ext cx="5852160" cy="1554480"/>
          </a:xfrm>
          <a:prstGeom prst="rect">
            <a:avLst/>
          </a:prstGeom>
          <a:noFill/>
          <a:ln/>
        </p:spPr>
        <p:txBody>
          <a:bodyPr wrap="square" lIns="0" tIns="0" rIns="0" bIns="0" rtlCol="0" anchor="ctr"/>
          <a:lstStyle/>
          <a:p>
            <a:pPr marL="0" indent="0">
              <a:buNone/>
            </a:pPr>
            <a:r>
              <a:rPr lang="en-US" sz="1400" dirty="0">
                <a:solidFill>
                  <a:srgbClr val="52586B"/>
                </a:solidFill>
                <a:latin typeface="Ubuntu" pitchFamily="34" charset="0"/>
                <a:ea typeface="Ubuntu" pitchFamily="34" charset="-122"/>
                <a:cs typeface="Ubuntu" pitchFamily="34" charset="-120"/>
              </a:rPr>
              <a:t>SonarQube AI provides deep SAST and AI-generated code governance. Prisma Cloud CNAPP unifies 8 security modules — Code Security, Supply Chain, Container, IaC, CSPM, CWP, CIEM, ASPM — with Precision AI attack-path analysis stitching code-to-cloud-to-runtime risk.</a:t>
            </a:r>
            <a:endParaRPr lang="en-US" sz="1400" dirty="0"/>
          </a:p>
        </p:txBody>
      </p:sp>
      <p:sp>
        <p:nvSpPr>
          <p:cNvPr id="12" name="Shape 10"/>
          <p:cNvSpPr/>
          <p:nvPr/>
        </p:nvSpPr>
        <p:spPr>
          <a:xfrm>
            <a:off x="7498080" y="1920240"/>
            <a:ext cx="6217920" cy="5029200"/>
          </a:xfrm>
          <a:prstGeom prst="rect">
            <a:avLst/>
          </a:prstGeom>
          <a:solidFill>
            <a:srgbClr val="373B48"/>
          </a:solidFill>
          <a:ln/>
          <a:effectLst>
            <a:outerShdw blurRad="76200" dist="25400" dir="8100000" algn="bl" rotWithShape="0">
              <a:srgbClr val="000000">
                <a:alpha val="8000"/>
              </a:srgbClr>
            </a:outerShdw>
          </a:effectLst>
        </p:spPr>
        <p:txBody>
          <a:bodyPr/>
          <a:lstStyle/>
          <a:p>
            <a:endParaRPr lang="en-US"/>
          </a:p>
        </p:txBody>
      </p:sp>
      <p:sp>
        <p:nvSpPr>
          <p:cNvPr id="13" name="Text 11"/>
          <p:cNvSpPr/>
          <p:nvPr/>
        </p:nvSpPr>
        <p:spPr>
          <a:xfrm>
            <a:off x="7863840" y="2148840"/>
            <a:ext cx="5486400" cy="457200"/>
          </a:xfrm>
          <a:prstGeom prst="rect">
            <a:avLst/>
          </a:prstGeom>
          <a:noFill/>
          <a:ln/>
        </p:spPr>
        <p:txBody>
          <a:bodyPr wrap="square" lIns="0" tIns="0" rIns="0" bIns="0" rtlCol="0" anchor="ctr"/>
          <a:lstStyle/>
          <a:p>
            <a:pPr marL="0" indent="0">
              <a:buNone/>
            </a:pPr>
            <a:r>
              <a:rPr lang="en-US" sz="2200" b="1" dirty="0">
                <a:solidFill>
                  <a:srgbClr val="FFFFFF"/>
                </a:solidFill>
                <a:latin typeface="Ubuntu" pitchFamily="34" charset="0"/>
                <a:ea typeface="Ubuntu" pitchFamily="34" charset="-122"/>
                <a:cs typeface="Ubuntu" pitchFamily="34" charset="-120"/>
              </a:rPr>
              <a:t>Results</a:t>
            </a:r>
            <a:endParaRPr lang="en-US" sz="2200" dirty="0"/>
          </a:p>
        </p:txBody>
      </p:sp>
      <p:sp>
        <p:nvSpPr>
          <p:cNvPr id="14" name="Text 12"/>
          <p:cNvSpPr/>
          <p:nvPr/>
        </p:nvSpPr>
        <p:spPr>
          <a:xfrm>
            <a:off x="7863840" y="274320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7</a:t>
            </a:r>
            <a:endParaRPr lang="en-US" sz="3600" dirty="0"/>
          </a:p>
        </p:txBody>
      </p:sp>
      <p:sp>
        <p:nvSpPr>
          <p:cNvPr id="15" name="Text 13"/>
          <p:cNvSpPr/>
          <p:nvPr/>
        </p:nvSpPr>
        <p:spPr>
          <a:xfrm>
            <a:off x="7863840" y="320040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Pipeline stages with AI at every gate</a:t>
            </a:r>
            <a:endParaRPr lang="en-US" sz="1300" dirty="0"/>
          </a:p>
        </p:txBody>
      </p:sp>
      <p:sp>
        <p:nvSpPr>
          <p:cNvPr id="16" name="Shape 14"/>
          <p:cNvSpPr/>
          <p:nvPr/>
        </p:nvSpPr>
        <p:spPr>
          <a:xfrm>
            <a:off x="7863840" y="3611880"/>
            <a:ext cx="5303520" cy="0"/>
          </a:xfrm>
          <a:prstGeom prst="line">
            <a:avLst/>
          </a:prstGeom>
          <a:noFill/>
          <a:ln w="6350">
            <a:solidFill>
              <a:srgbClr val="4B5563"/>
            </a:solidFill>
            <a:prstDash val="solid"/>
          </a:ln>
        </p:spPr>
        <p:txBody>
          <a:bodyPr/>
          <a:lstStyle/>
          <a:p>
            <a:endParaRPr lang="en-US"/>
          </a:p>
        </p:txBody>
      </p:sp>
      <p:sp>
        <p:nvSpPr>
          <p:cNvPr id="17" name="Text 15"/>
          <p:cNvSpPr/>
          <p:nvPr/>
        </p:nvSpPr>
        <p:spPr>
          <a:xfrm>
            <a:off x="7863840" y="379476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8</a:t>
            </a:r>
            <a:endParaRPr lang="en-US" sz="3600" dirty="0"/>
          </a:p>
        </p:txBody>
      </p:sp>
      <p:sp>
        <p:nvSpPr>
          <p:cNvPr id="18" name="Text 16"/>
          <p:cNvSpPr/>
          <p:nvPr/>
        </p:nvSpPr>
        <p:spPr>
          <a:xfrm>
            <a:off x="7863840" y="425196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Unified Prisma Cloud modules</a:t>
            </a:r>
            <a:endParaRPr lang="en-US" sz="1300" dirty="0"/>
          </a:p>
        </p:txBody>
      </p:sp>
      <p:sp>
        <p:nvSpPr>
          <p:cNvPr id="19" name="Shape 17"/>
          <p:cNvSpPr/>
          <p:nvPr/>
        </p:nvSpPr>
        <p:spPr>
          <a:xfrm>
            <a:off x="7863840" y="4663440"/>
            <a:ext cx="5303520" cy="0"/>
          </a:xfrm>
          <a:prstGeom prst="line">
            <a:avLst/>
          </a:prstGeom>
          <a:noFill/>
          <a:ln w="6350">
            <a:solidFill>
              <a:srgbClr val="4B5563"/>
            </a:solidFill>
            <a:prstDash val="solid"/>
          </a:ln>
        </p:spPr>
        <p:txBody>
          <a:bodyPr/>
          <a:lstStyle/>
          <a:p>
            <a:endParaRPr lang="en-US"/>
          </a:p>
        </p:txBody>
      </p:sp>
      <p:sp>
        <p:nvSpPr>
          <p:cNvPr id="20" name="Text 18"/>
          <p:cNvSpPr/>
          <p:nvPr/>
        </p:nvSpPr>
        <p:spPr>
          <a:xfrm>
            <a:off x="7863840" y="4846320"/>
            <a:ext cx="5486400" cy="457200"/>
          </a:xfrm>
          <a:prstGeom prst="rect">
            <a:avLst/>
          </a:prstGeom>
          <a:noFill/>
          <a:ln/>
        </p:spPr>
        <p:txBody>
          <a:bodyPr wrap="square" lIns="0" tIns="0" rIns="0" bIns="0" rtlCol="0" anchor="ctr"/>
          <a:lstStyle/>
          <a:p>
            <a:pPr marL="0" indent="0">
              <a:buNone/>
            </a:pPr>
            <a:r>
              <a:rPr lang="en-US" sz="3600" b="1" dirty="0">
                <a:solidFill>
                  <a:srgbClr val="3B82F6"/>
                </a:solidFill>
                <a:latin typeface="Ubuntu" pitchFamily="34" charset="0"/>
                <a:ea typeface="Ubuntu" pitchFamily="34" charset="-122"/>
                <a:cs typeface="Ubuntu" pitchFamily="34" charset="-120"/>
              </a:rPr>
              <a:t>85%</a:t>
            </a:r>
            <a:endParaRPr lang="en-US" sz="3600" dirty="0"/>
          </a:p>
        </p:txBody>
      </p:sp>
      <p:sp>
        <p:nvSpPr>
          <p:cNvPr id="21" name="Text 19"/>
          <p:cNvSpPr/>
          <p:nvPr/>
        </p:nvSpPr>
        <p:spPr>
          <a:xfrm>
            <a:off x="7863840" y="5303520"/>
            <a:ext cx="5486400" cy="274320"/>
          </a:xfrm>
          <a:prstGeom prst="rect">
            <a:avLst/>
          </a:prstGeom>
          <a:noFill/>
          <a:ln/>
        </p:spPr>
        <p:txBody>
          <a:bodyPr wrap="square" lIns="0" tIns="0" rIns="0" bIns="0" rtlCol="0" anchor="ctr"/>
          <a:lstStyle/>
          <a:p>
            <a:pPr marL="0" indent="0">
              <a:buNone/>
            </a:pPr>
            <a:r>
              <a:rPr lang="en-US" sz="1300" dirty="0">
                <a:solidFill>
                  <a:srgbClr val="9CA3AF"/>
                </a:solidFill>
                <a:latin typeface="Ubuntu" pitchFamily="34" charset="0"/>
                <a:ea typeface="Ubuntu" pitchFamily="34" charset="-122"/>
                <a:cs typeface="Ubuntu" pitchFamily="34" charset="-120"/>
              </a:rPr>
              <a:t>Alert reduction via attack-path AI</a:t>
            </a:r>
            <a:endParaRPr lang="en-US" sz="1300" dirty="0"/>
          </a:p>
        </p:txBody>
      </p:sp>
      <p:pic>
        <p:nvPicPr>
          <p:cNvPr id="22" name="Image 0" descr="preencoded.png"/>
          <p:cNvPicPr>
            <a:picLocks noChangeAspect="1"/>
          </p:cNvPicPr>
          <p:nvPr/>
        </p:nvPicPr>
        <p:blipFill>
          <a:blip r:embed="rId2"/>
          <a:stretch>
            <a:fillRect/>
          </a:stretch>
        </p:blipFill>
        <p:spPr>
          <a:xfrm>
            <a:off x="7863840" y="5943600"/>
            <a:ext cx="274320" cy="274320"/>
          </a:xfrm>
          <a:prstGeom prst="rect">
            <a:avLst/>
          </a:prstGeom>
        </p:spPr>
      </p:pic>
      <p:sp>
        <p:nvSpPr>
          <p:cNvPr id="23" name="Text 20"/>
          <p:cNvSpPr/>
          <p:nvPr/>
        </p:nvSpPr>
        <p:spPr>
          <a:xfrm>
            <a:off x="8321040" y="5943600"/>
            <a:ext cx="5029200" cy="731520"/>
          </a:xfrm>
          <a:prstGeom prst="rect">
            <a:avLst/>
          </a:prstGeom>
          <a:noFill/>
          <a:ln/>
        </p:spPr>
        <p:txBody>
          <a:bodyPr wrap="square" lIns="0" tIns="0" rIns="0" bIns="0" rtlCol="0" anchor="ctr"/>
          <a:lstStyle/>
          <a:p>
            <a:pPr marL="0" indent="0">
              <a:buNone/>
            </a:pPr>
            <a:r>
              <a:rPr lang="en-US" sz="1300" i="1" dirty="0">
                <a:solidFill>
                  <a:srgbClr val="D1D5DB"/>
                </a:solidFill>
                <a:latin typeface="Ubuntu" pitchFamily="34" charset="0"/>
                <a:ea typeface="Ubuntu" pitchFamily="34" charset="-122"/>
                <a:cs typeface="Ubuntu" pitchFamily="34" charset="-120"/>
              </a:rPr>
              <a:t>One platform replaces five-point tools — Precision AI stitches CVE + exposure + IAM + runtime into prioritized attack paths.</a:t>
            </a:r>
            <a:endParaRPr lang="en-US" sz="1300" dirty="0"/>
          </a:p>
        </p:txBody>
      </p:sp>
      <p:sp>
        <p:nvSpPr>
          <p:cNvPr id="24" name="Shape 21"/>
          <p:cNvSpPr/>
          <p:nvPr/>
        </p:nvSpPr>
        <p:spPr>
          <a:xfrm>
            <a:off x="731520" y="7516368"/>
            <a:ext cx="13167360" cy="0"/>
          </a:xfrm>
          <a:prstGeom prst="line">
            <a:avLst/>
          </a:prstGeom>
          <a:noFill/>
          <a:ln w="19050">
            <a:solidFill>
              <a:srgbClr val="3B82F6"/>
            </a:solidFill>
            <a:prstDash val="solid"/>
          </a:ln>
        </p:spPr>
        <p:txBody>
          <a:bodyPr/>
          <a:lstStyle/>
          <a:p>
            <a:endParaRPr lang="en-US"/>
          </a:p>
        </p:txBody>
      </p:sp>
      <p:pic>
        <p:nvPicPr>
          <p:cNvPr id="25" name="Image 1" descr="/sessions/relaxed-confident-mccarthy/unpacked/ppt/media/image3.png"/>
          <p:cNvPicPr>
            <a:picLocks noChangeAspect="1"/>
          </p:cNvPicPr>
          <p:nvPr/>
        </p:nvPicPr>
        <p:blipFill>
          <a:blip r:embed="rId3"/>
          <a:stretch>
            <a:fillRect/>
          </a:stretch>
        </p:blipFill>
        <p:spPr>
          <a:xfrm>
            <a:off x="12893040" y="7178040"/>
            <a:ext cx="1005840" cy="50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502920"/>
            <a:ext cx="11887200" cy="640080"/>
          </a:xfrm>
          <a:prstGeom prst="rect">
            <a:avLst/>
          </a:prstGeom>
          <a:noFill/>
          <a:ln/>
        </p:spPr>
        <p:txBody>
          <a:bodyPr wrap="square" lIns="0" tIns="0" rIns="0" bIns="0" rtlCol="0" anchor="ctr"/>
          <a:lstStyle/>
          <a:p>
            <a:pPr marL="0" indent="0">
              <a:buNone/>
            </a:pPr>
            <a:r>
              <a:rPr lang="en-US" sz="3900" b="1" dirty="0">
                <a:solidFill>
                  <a:srgbClr val="373B48"/>
                </a:solidFill>
                <a:latin typeface="Ubuntu" pitchFamily="34" charset="0"/>
                <a:ea typeface="Ubuntu" pitchFamily="34" charset="-122"/>
                <a:cs typeface="Ubuntu" pitchFamily="34" charset="-120"/>
              </a:rPr>
              <a:t>Feature Comparison</a:t>
            </a:r>
            <a:endParaRPr lang="en-US" sz="3900" dirty="0"/>
          </a:p>
        </p:txBody>
      </p:sp>
      <p:sp>
        <p:nvSpPr>
          <p:cNvPr id="3" name="Text 1"/>
          <p:cNvSpPr/>
          <p:nvPr/>
        </p:nvSpPr>
        <p:spPr>
          <a:xfrm>
            <a:off x="731520" y="1234440"/>
            <a:ext cx="11887200" cy="457200"/>
          </a:xfrm>
          <a:prstGeom prst="rect">
            <a:avLst/>
          </a:prstGeom>
          <a:noFill/>
          <a:ln/>
        </p:spPr>
        <p:txBody>
          <a:bodyPr wrap="square" lIns="0" tIns="0" rIns="0" bIns="0" rtlCol="0" anchor="ctr"/>
          <a:lstStyle/>
          <a:p>
            <a:pPr marL="0" indent="0">
              <a:buNone/>
            </a:pPr>
            <a:r>
              <a:rPr lang="en-US" sz="1800" dirty="0">
                <a:solidFill>
                  <a:srgbClr val="52586B"/>
                </a:solidFill>
                <a:latin typeface="Ubuntu" pitchFamily="34" charset="0"/>
                <a:ea typeface="Ubuntu" pitchFamily="34" charset="-122"/>
                <a:cs typeface="Ubuntu" pitchFamily="34" charset="-120"/>
              </a:rPr>
              <a:t>ACS + Sonar vs KCS + Sonar vs Prisma + Sonar</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13167360" cy="914400"/>
        </p:xfrm>
        <a:graphic>
          <a:graphicData uri="http://schemas.openxmlformats.org/drawingml/2006/table">
            <a:tbl>
              <a:tblPr/>
              <a:tblGrid>
                <a:gridCol w="457200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548640">
                <a:tc>
                  <a:txBody>
                    <a:bodyPr/>
                    <a:lstStyle/>
                    <a:p>
                      <a:pPr marL="0" indent="0" algn="l">
                        <a:buNone/>
                      </a:pPr>
                      <a:r>
                        <a:rPr lang="en-US" sz="1500" b="1" dirty="0">
                          <a:solidFill>
                            <a:srgbClr val="FFFFFF"/>
                          </a:solidFill>
                          <a:latin typeface="Ubuntu" pitchFamily="34" charset="0"/>
                          <a:ea typeface="Ubuntu" pitchFamily="34" charset="-122"/>
                          <a:cs typeface="Ubuntu" pitchFamily="34" charset="-120"/>
                        </a:rPr>
                        <a:t>Feature</a:t>
                      </a:r>
                      <a:endParaRPr lang="en-US" sz="15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373B48"/>
                    </a:solidFill>
                  </a:tcPr>
                </a:tc>
                <a:tc>
                  <a:txBody>
                    <a:bodyPr/>
                    <a:lstStyle/>
                    <a:p>
                      <a:pPr marL="0" indent="0" algn="ctr">
                        <a:buNone/>
                      </a:pPr>
                      <a:r>
                        <a:rPr lang="en-US" sz="1500" b="1" dirty="0">
                          <a:solidFill>
                            <a:srgbClr val="FFFFFF"/>
                          </a:solidFill>
                          <a:latin typeface="Ubuntu" pitchFamily="34" charset="0"/>
                          <a:ea typeface="Ubuntu" pitchFamily="34" charset="-122"/>
                          <a:cs typeface="Ubuntu" pitchFamily="34" charset="-120"/>
                        </a:rPr>
                        <a:t>ACS + Sonar</a:t>
                      </a:r>
                      <a:endParaRPr lang="en-US" sz="15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373B48"/>
                    </a:solidFill>
                  </a:tcPr>
                </a:tc>
                <a:tc>
                  <a:txBody>
                    <a:bodyPr/>
                    <a:lstStyle/>
                    <a:p>
                      <a:pPr marL="0" indent="0" algn="ctr">
                        <a:buNone/>
                      </a:pPr>
                      <a:r>
                        <a:rPr lang="en-US" sz="1500" b="1" dirty="0">
                          <a:solidFill>
                            <a:srgbClr val="FFFFFF"/>
                          </a:solidFill>
                          <a:latin typeface="Ubuntu" pitchFamily="34" charset="0"/>
                          <a:ea typeface="Ubuntu" pitchFamily="34" charset="-122"/>
                          <a:cs typeface="Ubuntu" pitchFamily="34" charset="-120"/>
                        </a:rPr>
                        <a:t>KCS + Sonar</a:t>
                      </a:r>
                      <a:endParaRPr lang="en-US" sz="15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373B48"/>
                    </a:solidFill>
                  </a:tcPr>
                </a:tc>
                <a:tc>
                  <a:txBody>
                    <a:bodyPr/>
                    <a:lstStyle/>
                    <a:p>
                      <a:pPr marL="0" indent="0" algn="ctr">
                        <a:buNone/>
                      </a:pPr>
                      <a:r>
                        <a:rPr lang="en-US" sz="1500" b="1" dirty="0">
                          <a:solidFill>
                            <a:srgbClr val="FFFFFF"/>
                          </a:solidFill>
                          <a:latin typeface="Ubuntu" pitchFamily="34" charset="0"/>
                          <a:ea typeface="Ubuntu" pitchFamily="34" charset="-122"/>
                          <a:cs typeface="Ubuntu" pitchFamily="34" charset="-120"/>
                        </a:rPr>
                        <a:t>Prisma + Sonar</a:t>
                      </a:r>
                      <a:endParaRPr lang="en-US" sz="15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373B48"/>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SAST AI CodeFix</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AI Code Assurance</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Container Image Scan</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eBPF Runtime Monitor</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D1D5DB"/>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D1D5DB"/>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ML Malware Detection</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D1D5DB"/>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D1D5DB"/>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extLst>
                  <a:ext uri="{0D108BD9-81ED-4DB2-BD59-A6C34878D82A}">
                    <a16:rowId xmlns:a16="http://schemas.microsoft.com/office/drawing/2014/main" val="10005"/>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Admission Controller</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48640">
                <a:tc>
                  <a:txBody>
                    <a:bodyPr/>
                    <a:lstStyle/>
                    <a:p>
                      <a:pPr marL="0" indent="0" algn="l">
                        <a:buNone/>
                      </a:pPr>
                      <a:r>
                        <a:rPr lang="en-US" sz="1400" dirty="0">
                          <a:solidFill>
                            <a:srgbClr val="373B48"/>
                          </a:solidFill>
                          <a:latin typeface="Ubuntu" pitchFamily="34" charset="0"/>
                          <a:ea typeface="Ubuntu" pitchFamily="34" charset="-122"/>
                          <a:cs typeface="Ubuntu" pitchFamily="34" charset="-120"/>
                        </a:rPr>
                        <a:t>Attack-Path AI</a:t>
                      </a:r>
                      <a:endParaRPr lang="en-US" sz="14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D1D5DB"/>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D1D5DB"/>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tc>
                  <a:txBody>
                    <a:bodyPr/>
                    <a:lstStyle/>
                    <a:p>
                      <a:pPr marL="0" indent="0" algn="ctr">
                        <a:buNone/>
                      </a:pPr>
                      <a:r>
                        <a:rPr lang="en-US" sz="2000" b="1" dirty="0">
                          <a:solidFill>
                            <a:srgbClr val="10B981"/>
                          </a:solidFill>
                          <a:latin typeface="Ubuntu" pitchFamily="34" charset="0"/>
                          <a:ea typeface="Ubuntu" pitchFamily="34" charset="-122"/>
                          <a:cs typeface="Ubuntu" pitchFamily="34" charset="-120"/>
                        </a:rPr>
                        <a:t>✓</a:t>
                      </a:r>
                      <a:endParaRPr lang="en-US" sz="2000" dirty="0">
                        <a:latin typeface="Ubuntu" charset="0"/>
                        <a:ea typeface="Ubuntu" charset="0"/>
                        <a:cs typeface="Ubuntu" charset="0"/>
                      </a:endParaRPr>
                    </a:p>
                  </a:txBody>
                  <a:tcPr anchor="ctr">
                    <a:lnL w="6350" cap="flat" cmpd="sng" algn="ctr">
                      <a:solidFill>
                        <a:srgbClr val="E2E5EE"/>
                      </a:solidFill>
                      <a:prstDash val="solid"/>
                      <a:round/>
                      <a:headEnd type="none" w="med" len="med"/>
                      <a:tailEnd type="none" w="med" len="med"/>
                    </a:lnL>
                    <a:lnR w="6350" cap="flat" cmpd="sng" algn="ctr">
                      <a:solidFill>
                        <a:srgbClr val="E2E5EE"/>
                      </a:solidFill>
                      <a:prstDash val="solid"/>
                      <a:round/>
                      <a:headEnd type="none" w="med" len="med"/>
                      <a:tailEnd type="none" w="med" len="med"/>
                    </a:lnR>
                    <a:lnT w="6350" cap="flat" cmpd="sng" algn="ctr">
                      <a:solidFill>
                        <a:srgbClr val="E2E5EE"/>
                      </a:solidFill>
                      <a:prstDash val="solid"/>
                      <a:round/>
                      <a:headEnd type="none" w="med" len="med"/>
                      <a:tailEnd type="none" w="med" len="med"/>
                    </a:lnT>
                    <a:lnB w="6350" cap="flat" cmpd="sng" algn="ctr">
                      <a:solidFill>
                        <a:srgbClr val="E2E5EE"/>
                      </a:solidFill>
                      <a:prstDash val="solid"/>
                      <a:round/>
                      <a:headEnd type="none" w="med" len="med"/>
                      <a:tailEnd type="none" w="med" len="med"/>
                    </a:lnB>
                    <a:solidFill>
                      <a:srgbClr val="F8F9FC"/>
                    </a:solidFill>
                  </a:tcPr>
                </a:tc>
                <a:extLst>
                  <a:ext uri="{0D108BD9-81ED-4DB2-BD59-A6C34878D82A}">
                    <a16:rowId xmlns:a16="http://schemas.microsoft.com/office/drawing/2014/main" val="10007"/>
                  </a:ext>
                </a:extLst>
              </a:tr>
            </a:tbl>
          </a:graphicData>
        </a:graphic>
      </p:graphicFrame>
      <p:sp>
        <p:nvSpPr>
          <p:cNvPr id="5" name="Shape 2"/>
          <p:cNvSpPr/>
          <p:nvPr/>
        </p:nvSpPr>
        <p:spPr>
          <a:xfrm>
            <a:off x="731520" y="7516368"/>
            <a:ext cx="13167360" cy="0"/>
          </a:xfrm>
          <a:prstGeom prst="line">
            <a:avLst/>
          </a:prstGeom>
          <a:noFill/>
          <a:ln w="19050">
            <a:solidFill>
              <a:srgbClr val="3B82F6"/>
            </a:solidFill>
            <a:prstDash val="solid"/>
          </a:ln>
        </p:spPr>
        <p:txBody>
          <a:bodyPr/>
          <a:lstStyle/>
          <a:p>
            <a:endParaRPr lang="en-US"/>
          </a:p>
        </p:txBody>
      </p:sp>
      <p:pic>
        <p:nvPicPr>
          <p:cNvPr id="6" name="Image 0" descr="/sessions/relaxed-confident-mccarthy/unpacked/ppt/media/image3.png"/>
          <p:cNvPicPr>
            <a:picLocks noChangeAspect="1"/>
          </p:cNvPicPr>
          <p:nvPr/>
        </p:nvPicPr>
        <p:blipFill>
          <a:blip r:embed="rId2"/>
          <a:stretch>
            <a:fillRect/>
          </a:stretch>
        </p:blipFill>
        <p:spPr>
          <a:xfrm>
            <a:off x="12893040" y="7178040"/>
            <a:ext cx="1005840" cy="502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373B48"/>
        </a:solidFill>
        <a:effectLst/>
      </p:bgPr>
    </p:bg>
    <p:spTree>
      <p:nvGrpSpPr>
        <p:cNvPr id="1" name=""/>
        <p:cNvGrpSpPr/>
        <p:nvPr/>
      </p:nvGrpSpPr>
      <p:grpSpPr>
        <a:xfrm>
          <a:off x="0" y="0"/>
          <a:ext cx="0" cy="0"/>
          <a:chOff x="0" y="0"/>
          <a:chExt cx="0" cy="0"/>
        </a:xfrm>
      </p:grpSpPr>
      <p:pic>
        <p:nvPicPr>
          <p:cNvPr id="2" name="Image 0" descr="/sessions/relaxed-confident-mccarthy/unpacked/ppt/media/image3.png"/>
          <p:cNvPicPr>
            <a:picLocks noChangeAspect="1"/>
          </p:cNvPicPr>
          <p:nvPr/>
        </p:nvPicPr>
        <p:blipFill>
          <a:blip r:embed="rId2"/>
          <a:stretch>
            <a:fillRect/>
          </a:stretch>
        </p:blipFill>
        <p:spPr>
          <a:xfrm>
            <a:off x="5943600" y="1097280"/>
            <a:ext cx="2743200" cy="1371600"/>
          </a:xfrm>
          <a:prstGeom prst="rect">
            <a:avLst/>
          </a:prstGeom>
        </p:spPr>
      </p:pic>
      <p:sp>
        <p:nvSpPr>
          <p:cNvPr id="3" name="Text 0"/>
          <p:cNvSpPr/>
          <p:nvPr/>
        </p:nvSpPr>
        <p:spPr>
          <a:xfrm>
            <a:off x="0" y="2926080"/>
            <a:ext cx="14630400"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Ubuntu" pitchFamily="34" charset="0"/>
                <a:ea typeface="Ubuntu" pitchFamily="34" charset="-122"/>
                <a:cs typeface="Ubuntu" pitchFamily="34" charset="-120"/>
              </a:rPr>
              <a:t>Thank You</a:t>
            </a:r>
            <a:endParaRPr lang="en-US" sz="5600" dirty="0"/>
          </a:p>
        </p:txBody>
      </p:sp>
      <p:sp>
        <p:nvSpPr>
          <p:cNvPr id="4" name="Text 1"/>
          <p:cNvSpPr/>
          <p:nvPr/>
        </p:nvSpPr>
        <p:spPr>
          <a:xfrm>
            <a:off x="2743200" y="4114800"/>
            <a:ext cx="9144000" cy="548640"/>
          </a:xfrm>
          <a:prstGeom prst="rect">
            <a:avLst/>
          </a:prstGeom>
          <a:noFill/>
          <a:ln/>
        </p:spPr>
        <p:txBody>
          <a:bodyPr wrap="square" lIns="0" tIns="0" rIns="0" bIns="0" rtlCol="0" anchor="ctr"/>
          <a:lstStyle/>
          <a:p>
            <a:pPr marL="0" indent="0" algn="ctr">
              <a:buNone/>
            </a:pPr>
            <a:r>
              <a:rPr lang="en-US" sz="2200" dirty="0">
                <a:solidFill>
                  <a:srgbClr val="9CA3AF"/>
                </a:solidFill>
                <a:latin typeface="Ubuntu" pitchFamily="34" charset="0"/>
                <a:ea typeface="Ubuntu" pitchFamily="34" charset="-122"/>
                <a:cs typeface="Ubuntu" pitchFamily="34" charset="-120"/>
              </a:rPr>
              <a:t>Let us build your AI-powered DevSecOps pipeline</a:t>
            </a:r>
            <a:endParaRPr lang="en-US" sz="2200" dirty="0"/>
          </a:p>
        </p:txBody>
      </p:sp>
      <p:pic>
        <p:nvPicPr>
          <p:cNvPr id="5" name="Image 1" descr="preencoded.png"/>
          <p:cNvPicPr>
            <a:picLocks noChangeAspect="1"/>
          </p:cNvPicPr>
          <p:nvPr/>
        </p:nvPicPr>
        <p:blipFill>
          <a:blip r:embed="rId3"/>
          <a:stretch>
            <a:fillRect/>
          </a:stretch>
        </p:blipFill>
        <p:spPr>
          <a:xfrm>
            <a:off x="3749040" y="5349240"/>
            <a:ext cx="274320" cy="274320"/>
          </a:xfrm>
          <a:prstGeom prst="rect">
            <a:avLst/>
          </a:prstGeom>
        </p:spPr>
      </p:pic>
      <p:sp>
        <p:nvSpPr>
          <p:cNvPr id="6" name="Text 2"/>
          <p:cNvSpPr/>
          <p:nvPr/>
        </p:nvSpPr>
        <p:spPr>
          <a:xfrm>
            <a:off x="4114800" y="5303520"/>
            <a:ext cx="2743200" cy="365760"/>
          </a:xfrm>
          <a:prstGeom prst="rect">
            <a:avLst/>
          </a:prstGeom>
          <a:noFill/>
          <a:ln/>
        </p:spPr>
        <p:txBody>
          <a:bodyPr wrap="square" lIns="0" tIns="0" rIns="0" bIns="0" rtlCol="0" anchor="ctr"/>
          <a:lstStyle/>
          <a:p>
            <a:pPr marL="0" indent="0">
              <a:buNone/>
            </a:pPr>
            <a:r>
              <a:rPr lang="en-US" sz="1600" dirty="0">
                <a:solidFill>
                  <a:srgbClr val="FFFFFF"/>
                </a:solidFill>
                <a:latin typeface="Ubuntu" pitchFamily="34" charset="0"/>
                <a:ea typeface="Ubuntu" pitchFamily="34" charset="-122"/>
                <a:cs typeface="Ubuntu" pitchFamily="34" charset="-120"/>
              </a:rPr>
              <a:t>sales@opsera.org</a:t>
            </a:r>
            <a:endParaRPr lang="en-US" sz="1600" dirty="0"/>
          </a:p>
        </p:txBody>
      </p:sp>
      <p:pic>
        <p:nvPicPr>
          <p:cNvPr id="7" name="Image 2" descr="preencoded.png"/>
          <p:cNvPicPr>
            <a:picLocks noChangeAspect="1"/>
          </p:cNvPicPr>
          <p:nvPr/>
        </p:nvPicPr>
        <p:blipFill>
          <a:blip r:embed="rId4"/>
          <a:stretch>
            <a:fillRect/>
          </a:stretch>
        </p:blipFill>
        <p:spPr>
          <a:xfrm>
            <a:off x="7772400" y="5349240"/>
            <a:ext cx="274320" cy="274320"/>
          </a:xfrm>
          <a:prstGeom prst="rect">
            <a:avLst/>
          </a:prstGeom>
        </p:spPr>
      </p:pic>
      <p:sp>
        <p:nvSpPr>
          <p:cNvPr id="8" name="Text 3"/>
          <p:cNvSpPr/>
          <p:nvPr/>
        </p:nvSpPr>
        <p:spPr>
          <a:xfrm>
            <a:off x="8138160" y="5303520"/>
            <a:ext cx="2743200" cy="365760"/>
          </a:xfrm>
          <a:prstGeom prst="rect">
            <a:avLst/>
          </a:prstGeom>
          <a:noFill/>
          <a:ln/>
        </p:spPr>
        <p:txBody>
          <a:bodyPr wrap="square" lIns="0" tIns="0" rIns="0" bIns="0" rtlCol="0" anchor="ctr"/>
          <a:lstStyle/>
          <a:p>
            <a:pPr marL="0" indent="0">
              <a:buNone/>
            </a:pPr>
            <a:r>
              <a:rPr lang="en-US" sz="1600" dirty="0">
                <a:solidFill>
                  <a:srgbClr val="FFFFFF"/>
                </a:solidFill>
                <a:latin typeface="Ubuntu" pitchFamily="34" charset="0"/>
                <a:ea typeface="Ubuntu" pitchFamily="34" charset="-122"/>
                <a:cs typeface="Ubuntu" pitchFamily="34" charset="-120"/>
              </a:rPr>
              <a:t>www.opsera.org</a:t>
            </a:r>
            <a:endParaRPr lang="en-US" sz="1600" dirty="0"/>
          </a:p>
        </p:txBody>
      </p:sp>
      <p:sp>
        <p:nvSpPr>
          <p:cNvPr id="9" name="Text 4"/>
          <p:cNvSpPr/>
          <p:nvPr/>
        </p:nvSpPr>
        <p:spPr>
          <a:xfrm>
            <a:off x="0" y="6217920"/>
            <a:ext cx="14630400" cy="457200"/>
          </a:xfrm>
          <a:prstGeom prst="rect">
            <a:avLst/>
          </a:prstGeom>
          <a:noFill/>
          <a:ln/>
        </p:spPr>
        <p:txBody>
          <a:bodyPr wrap="square" lIns="0" tIns="0" rIns="0" bIns="0" rtlCol="0" anchor="ctr"/>
          <a:lstStyle/>
          <a:p>
            <a:pPr marL="0" indent="0" algn="ctr">
              <a:buNone/>
            </a:pPr>
            <a:r>
              <a:rPr lang="en-US" sz="1800" dirty="0">
                <a:solidFill>
                  <a:srgbClr val="3B82F6"/>
                </a:solidFill>
                <a:latin typeface="Ubuntu" pitchFamily="34" charset="0"/>
                <a:ea typeface="Ubuntu" pitchFamily="34" charset="-122"/>
                <a:cs typeface="Ubuntu" pitchFamily="34" charset="-120"/>
              </a:rPr>
              <a:t>Questions &amp; Answers</a:t>
            </a:r>
            <a:endParaRPr lang="en-US" sz="1800" dirty="0"/>
          </a:p>
        </p:txBody>
      </p:sp>
      <p:sp>
        <p:nvSpPr>
          <p:cNvPr id="10" name="Shape 5"/>
          <p:cNvSpPr/>
          <p:nvPr/>
        </p:nvSpPr>
        <p:spPr>
          <a:xfrm>
            <a:off x="731520" y="7516368"/>
            <a:ext cx="13167360" cy="0"/>
          </a:xfrm>
          <a:prstGeom prst="line">
            <a:avLst/>
          </a:prstGeom>
          <a:noFill/>
          <a:ln w="25400">
            <a:solidFill>
              <a:srgbClr val="3B82F6"/>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2BB95D-6FC6-E744-B0D1-C052AA6F2AFE}">
  <we:reference id="wa200010001" version="1.0.0.0" store="en-US" storeType="OMEX"/>
  <we:alternateReferences>
    <we:reference id="wa200010001" version="1.0.0.0" store="en-US" storeType="OMEX"/>
  </we:alternateReferences>
  <we:properties>
    <we:property name="Office.AutoShowTaskpaneWithDocument" value="true"/>
    <we:property name="claude.fileId" value="&quot;e51b8260-2973-40c0-83dd-385315cac11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14603</TotalTime>
  <Words>780</Words>
  <Application>Microsoft Macintosh PowerPoint</Application>
  <PresentationFormat>Custom</PresentationFormat>
  <Paragraphs>124</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Ubuntu</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Ibrahim Mohamed Elsayed</cp:lastModifiedBy>
  <cp:revision>88</cp:revision>
  <cp:lastPrinted>2025-08-15T15:16:23Z</cp:lastPrinted>
  <dcterms:created xsi:type="dcterms:W3CDTF">2025-08-15T15:10:44Z</dcterms:created>
  <dcterms:modified xsi:type="dcterms:W3CDTF">2026-04-26T11:12:38Z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1ef8a2-67f3-40eb-a558-84e21b4df1df_Enabled">
    <vt:lpwstr>true</vt:lpwstr>
  </property>
  <property fmtid="{D5CDD505-2E9C-101B-9397-08002B2CF9AE}" pid="3" name="MSIP_Label_f11ef8a2-67f3-40eb-a558-84e21b4df1df_SetDate">
    <vt:lpwstr>2025-08-23T10:20:34Z</vt:lpwstr>
  </property>
  <property fmtid="{D5CDD505-2E9C-101B-9397-08002B2CF9AE}" pid="4" name="MSIP_Label_f11ef8a2-67f3-40eb-a558-84e21b4df1df_Method">
    <vt:lpwstr>Standard</vt:lpwstr>
  </property>
  <property fmtid="{D5CDD505-2E9C-101B-9397-08002B2CF9AE}" pid="5" name="MSIP_Label_f11ef8a2-67f3-40eb-a558-84e21b4df1df_Name">
    <vt:lpwstr>General</vt:lpwstr>
  </property>
  <property fmtid="{D5CDD505-2E9C-101B-9397-08002B2CF9AE}" pid="6" name="MSIP_Label_f11ef8a2-67f3-40eb-a558-84e21b4df1df_SiteId">
    <vt:lpwstr>ed974340-5102-41e2-96ac-36f916de2a5b</vt:lpwstr>
  </property>
  <property fmtid="{D5CDD505-2E9C-101B-9397-08002B2CF9AE}" pid="7" name="MSIP_Label_f11ef8a2-67f3-40eb-a558-84e21b4df1df_ActionId">
    <vt:lpwstr>121d7ea1-151e-4fd6-8c93-e390fe3f3945</vt:lpwstr>
  </property>
  <property fmtid="{D5CDD505-2E9C-101B-9397-08002B2CF9AE}" pid="8" name="MSIP_Label_f11ef8a2-67f3-40eb-a558-84e21b4df1df_ContentBits">
    <vt:lpwstr>1</vt:lpwstr>
  </property>
  <property fmtid="{D5CDD505-2E9C-101B-9397-08002B2CF9AE}" pid="9" name="MSIP_Label_f11ef8a2-67f3-40eb-a558-84e21b4df1df_Tag">
    <vt:lpwstr>50, 3, 0, 1</vt:lpwstr>
  </property>
  <property fmtid="{D5CDD505-2E9C-101B-9397-08002B2CF9AE}" pid="10" name="ClassificationContentMarkingHeaderLocations">
    <vt:lpwstr>Office Theme:3</vt:lpwstr>
  </property>
  <property fmtid="{D5CDD505-2E9C-101B-9397-08002B2CF9AE}" pid="11" name="ClassificationContentMarkingHeaderText">
    <vt:lpwstr>Internal</vt:lpwstr>
  </property>
</Properties>
</file>